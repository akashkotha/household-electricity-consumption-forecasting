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85126f-c874-bb30-2d4c-147e0cca6e88}">
          <p14:sldIdLst>
            <p14:sldId id="256"/>
            <p14:sldId id="257"/>
            <p14:sldId id="258"/>
          </p14:sldIdLst>
        </p14:section>
        <p14:section name="Method" id="{484a9140-4421-24a4-084c-21c4bd3b3448}">
          <p14:sldIdLst>
            <p14:sldId id="259"/>
            <p14:sldId id="260"/>
            <p14:sldId id="261"/>
            <p14:sldId id="262"/>
          </p14:sldIdLst>
        </p14:section>
        <p14:section name="Results" id="{1b8d249f-39f0-3a06-cc35-a744559bf0d8}">
          <p14:sldIdLst>
            <p14:sldId id="263"/>
            <p14:sldId id="264"/>
          </p14:sldIdLst>
        </p14:section>
        <p14:section name="Wrap-up" id="{16f8b3e3-a57f-566b-7d44-51297ff2f78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33"/>
                </a:solidFill>
                <a:latin typeface="+mn-lt"/>
              </a:defRPr>
            </a:pPr>
            <a:r>
              <a:rPr sz="1300" b="0" i="0" u="none" strike="noStrike">
                <a:solidFill>
                  <a:srgbClr val="1B2333"/>
                </a:solidFill>
                <a:latin typeface="+mn-lt"/>
              </a:rPr>
              <a:t>Validation RMSE (lower is better)</a:t>
            </a:r>
          </a:p>
        </c:rich>
      </c:tx>
      <c:layout/>
      <c:overlay val="0"/>
    </c:title>
    <c:autoTitleDeleted val="0"/>
    <c:plotArea>
      <c:layout/>
      <c:barChart>
        <c:barDir val="col"/>
        <c:grouping val="clustered"/>
        <c:varyColors val="0"/>
        <c:ser>
          <c:idx val="0"/>
          <c:order val="0"/>
          <c:tx>
            <c:strRef>
              <c:f>Sheet1!$B$1</c:f>
              <c:strCache>
                <c:ptCount val="1"/>
                <c:pt idx="0">
                  <c:v>Validation RMSE</c:v>
                </c:pt>
              </c:strCache>
            </c:strRef>
          </c:tx>
          <c:spPr>
            <a:solidFill>
              <a:srgbClr val="0B2A5B"/>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0B2A5B"/>
              </a:solidFill>
              <a:effectLst/>
            </c:spPr>
          </c:dPt>
          <c:dPt>
            <c:idx val="1"/>
            <c:invertIfNegative val="0"/>
            <c:bubble3D val="0"/>
            <c:spPr>
              <a:solidFill>
                <a:srgbClr val="7FA3DB"/>
              </a:solidFill>
              <a:effectLst/>
            </c:spPr>
          </c:dPt>
          <c:dPt>
            <c:idx val="2"/>
            <c:invertIfNegative val="0"/>
            <c:bubble3D val="0"/>
            <c:spPr>
              <a:solidFill>
                <a:srgbClr val="7FA3DB"/>
              </a:solidFill>
              <a:effectLst/>
            </c:spPr>
          </c:dPt>
          <c:dPt>
            <c:idx val="3"/>
            <c:invertIfNegative val="0"/>
            <c:bubble3D val="0"/>
            <c:spPr>
              <a:solidFill>
                <a:srgbClr val="7FA3DB"/>
              </a:solidFill>
              <a:effectLst/>
            </c:spPr>
          </c:dPt>
          <c:dPt>
            <c:idx val="4"/>
            <c:invertIfNegative val="0"/>
            <c:bubble3D val="0"/>
            <c:spPr>
              <a:solidFill>
                <a:srgbClr val="7FA3DB"/>
              </a:solidFill>
              <a:effectLst/>
            </c:spPr>
          </c:dPt>
          <c:dPt>
            <c:idx val="5"/>
            <c:invertIfNegative val="0"/>
            <c:bubble3D val="0"/>
            <c:spPr>
              <a:solidFill>
                <a:srgbClr val="7FA3DB"/>
              </a:solidFill>
              <a:effectLst/>
            </c:spPr>
          </c:dPt>
          <c:cat>
            <c:multiLvlStrRef>
              <c:f>Sheet1!$A$2:$A$7</c:f>
              <c:multiLvlStrCache>
                <c:ptCount val="6"/>
                <c:lvl>
                  <c:pt idx="0">
                    <c:v>Hist GB</c:v>
                  </c:pt>
                  <c:pt idx="1">
                    <c:v>Random Forest</c:v>
                  </c:pt>
                  <c:pt idx="2">
                    <c:v>Extra Trees</c:v>
                  </c:pt>
                  <c:pt idx="3">
                    <c:v>Ridge</c:v>
                  </c:pt>
                  <c:pt idx="4">
                    <c:v>Linear</c:v>
                  </c:pt>
                  <c:pt idx="5">
                    <c:v>Baseline</c:v>
                  </c:pt>
                </c:lvl>
              </c:multiLvlStrCache>
            </c:multiLvlStrRef>
          </c:cat>
          <c:val>
            <c:numRef>
              <c:f>Sheet1!$B$2:$B$7</c:f>
              <c:numCache>
                <c:formatCode>General</c:formatCode>
                <c:ptCount val="6"/>
                <c:pt idx="0">
                  <c:v>0.6181</c:v>
                </c:pt>
                <c:pt idx="1">
                  <c:v>0.6242</c:v>
                </c:pt>
                <c:pt idx="2">
                  <c:v>0.6243</c:v>
                </c:pt>
                <c:pt idx="3">
                  <c:v>0.7507</c:v>
                </c:pt>
                <c:pt idx="4">
                  <c:v>0.7507</c:v>
                </c:pt>
                <c:pt idx="5">
                  <c:v>0.9077</c:v>
                </c:pt>
              </c:numCache>
            </c:numRef>
          </c:val>
        </c:ser>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5"/>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The goal is to predict how much electricity one household will use in the next hour. The chart shows the daily pattern in the data: low at night, peaks in the morning and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forecasting is useful. The model looks at recent usage and calendar information and predicts the average power in the next hour. Remind the audience this is a single household, so usage changes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 from one household and are recorded every minute. After averaging to hours we have 34,168 records, and 33,999 rows after creating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missing values were marked with a question mark, about 1.25 percent of rows, and were ignored when averaging. Minute data was averaged into hourly values. The plot shows the repeating daily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steps in order, row by row. This follows the Knowledge Discovery in Databases process: understand the problem, prepare the data, build models, check them and interpret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Calendar features tell the model the time of day and week. Lag features give recent and same-time-yesterday and last-week usage. Rolling statistics summarize the recent past. The simple baseline predicts the training average and shows how much the other models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 time series, the data is never shuffled. The first 70 percent of time is for training, the next 15 percent for validation, and the last 15 percent for the final test. Then briefly explain the four metrics. For MAE, RMSE and MAPE lower is better; for R-squared higher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 Gradient Boosting had the lowest validation RMSE, 0.6181, compared with 0.9077 for the baseline. On the test period it gets MAE 0.3958, RMSE 0.5455, MAPE 57.19 percent and R-squared 0.4088. MAPE excludes actual values at or below 0.05 kW. Be honest: the model follows the daily pattern but misses many peaks, so accuracy is moderate, not high. In the scatter plot, points spread widely around the diagonal and high values are mostly under-predicted.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shows how much the error increases when a feature is shuffled. Hour of day is by far the most important, then the previous hour, then day of week. The weekend flag has zero importance because day of week already contains that information. Stress that results apply to this one household and the model is only moderately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full workflow was completed and Hist Gradient Boosting performed best, but accuracy is moderate. The KDD process helped keep the work organised and free of data leakage. Future work: add more information and stronger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4572000" cy="1783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Household Electricity Consumption Forecasting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4572000" cy="274320"/>
          </a:xfrm>
          <a:prstGeom prst="rect">
            <a:avLst/>
          </a:prstGeom>
          <a:noFill/>
          <a:ln/>
        </p:spPr>
        <p:txBody>
          <a:bodyPr wrap="square" lIns="0" tIns="0" rIns="0" bIns="0" rtlCol="0" anchor="t"/>
          <a:lstStyle/>
          <a:p>
            <a:pPr indent="0" marL="0">
              <a:buNone/>
            </a:pPr>
            <a:r>
              <a:rPr lang="en-US" sz="1400" b="1" dirty="0">
                <a:solidFill>
                  <a:schemeClr val="accent2"/>
                </a:solidFill>
              </a:rPr>
              <a:t>B.Tech Predictive Analytics Project</a:t>
            </a:r>
            <a:endParaRPr lang="en-US" sz="1400" dirty="0"/>
          </a:p>
        </p:txBody>
      </p:sp>
      <p:sp>
        <p:nvSpPr>
          <p:cNvPr id="3" name="Text 0"/>
          <p:cNvSpPr/>
          <p:nvPr>
            <p:ph idx="100" type="title" hasCustomPrompt="1"/>
          </p:nvPr>
        </p:nvSpPr>
        <p:spPr>
          <a:xfrm>
            <a:off x="548640" y="960120"/>
            <a:ext cx="4572000" cy="1783080"/>
          </a:xfrm>
          <a:prstGeom prst="rect">
            <a:avLst/>
          </a:prstGeom>
          <a:noFill/>
          <a:ln/>
        </p:spPr>
        <p:txBody>
          <a:bodyPr wrap="square" lIns="0" tIns="0" rIns="0" bIns="0" rtlCol="0" anchor="t"/>
          <a:lstStyle/>
          <a:p>
            <a:pPr algn="l" indent="0" marL="0">
              <a:buNone/>
            </a:pPr>
            <a:r>
              <a:rPr lang="en-US" sz="3200" b="1" dirty="0">
                <a:solidFill>
                  <a:schemeClr val="tx2"/>
                </a:solidFill>
              </a:rPr>
              <a:t>Household Electricity Consumption Forecasting Using Machine Learning</a:t>
            </a:r>
            <a:endParaRPr lang="en-US" sz="3200" dirty="0"/>
          </a:p>
        </p:txBody>
      </p:sp>
      <p:sp>
        <p:nvSpPr>
          <p:cNvPr id="4" name="Student details"/>
          <p:cNvSpPr txBox="1"/>
          <p:nvPr/>
        </p:nvSpPr>
        <p:spPr>
          <a:xfrm>
            <a:off x="548640" y="2926080"/>
            <a:ext cx="4572000" cy="173736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Abhinava Akash Kotha</a:t>
            </a:r>
            <a:endParaRPr lang="en-US" sz="1400" dirty="0"/>
          </a:p>
          <a:p>
            <a:pPr indent="0" marL="0">
              <a:spcAft>
                <a:spcPts val="300"/>
              </a:spcAft>
              <a:buNone/>
            </a:pPr>
            <a:r>
              <a:rPr lang="en-US" sz="1400" dirty="0">
                <a:solidFill>
                  <a:schemeClr val="tx1"/>
                </a:solidFill>
              </a:rPr>
              <a:t>PRN: 23070521075</a:t>
            </a:r>
            <a:endParaRPr lang="en-US" sz="1400" dirty="0"/>
          </a:p>
          <a:p>
            <a:pPr indent="0" marL="0">
              <a:spcAft>
                <a:spcPts val="300"/>
              </a:spcAft>
              <a:buNone/>
            </a:pPr>
            <a:r>
              <a:rPr lang="en-US" sz="1400" dirty="0">
                <a:solidFill>
                  <a:schemeClr val="tx1"/>
                </a:solidFill>
              </a:rPr>
              <a:t>B.Tech Computer Science (Honours in AI/ML), Semester 7</a:t>
            </a:r>
            <a:endParaRPr lang="en-US" sz="1400" dirty="0"/>
          </a:p>
          <a:p>
            <a:pPr indent="0" marL="0">
              <a:spcAft>
                <a:spcPts val="300"/>
              </a:spcAft>
              <a:buNone/>
            </a:pPr>
            <a:r>
              <a:rPr lang="en-US" sz="1400" dirty="0">
                <a:solidFill>
                  <a:schemeClr val="tx1"/>
                </a:solidFill>
              </a:rPr>
              <a:t>Symbiosis Institute of Technology, Nagpur</a:t>
            </a:r>
            <a:endParaRPr lang="en-US" sz="1400" dirty="0"/>
          </a:p>
          <a:p>
            <a:pPr indent="0" marL="0">
              <a:spcAft>
                <a:spcPts val="300"/>
              </a:spcAft>
              <a:buNone/>
            </a:pPr>
            <a:r>
              <a:rPr lang="en-US" sz="1400" dirty="0">
                <a:solidFill>
                  <a:schemeClr val="tx1"/>
                </a:solidFill>
              </a:rPr>
              <a:t>Course: Predictive Analytics</a:t>
            </a:r>
            <a:endParaRPr lang="en-US" sz="1400" dirty="0"/>
          </a:p>
          <a:p>
            <a:pPr indent="0" marL="0">
              <a:spcAft>
                <a:spcPts val="300"/>
              </a:spcAft>
              <a:buNone/>
            </a:pPr>
            <a:r>
              <a:rPr lang="en-US" sz="1400" dirty="0">
                <a:solidFill>
                  <a:schemeClr val="tx1"/>
                </a:solidFill>
              </a:rPr>
              <a:t>Dataset: UCI Household Electric Power Consumption</a:t>
            </a:r>
            <a:endParaRPr lang="en-US" sz="1400" dirty="0"/>
          </a:p>
        </p:txBody>
      </p:sp>
      <p:sp>
        <p:nvSpPr>
          <p:cNvPr id="5" name="Chart card"/>
          <p:cNvSpPr/>
          <p:nvPr/>
        </p:nvSpPr>
        <p:spPr>
          <a:xfrm>
            <a:off x="5394960" y="1097280"/>
            <a:ext cx="3291840" cy="2743200"/>
          </a:xfrm>
          <a:prstGeom prst="roundRect">
            <a:avLst>
              <a:gd name="adj" fmla="val 2667"/>
            </a:avLst>
          </a:prstGeom>
          <a:solidFill>
            <a:srgbClr val="FFFFFF"/>
          </a:solidFill>
          <a:ln w="9525">
            <a:solidFill>
              <a:schemeClr val="accent4"/>
            </a:solidFill>
            <a:prstDash val="solid"/>
          </a:ln>
        </p:spPr>
      </p:sp>
      <p:pic>
        <p:nvPicPr>
          <p:cNvPr id="6" name="Hour chart" descr="Bar chart of average power by hour of day">    </p:cNvPr>
          <p:cNvPicPr>
            <a:picLocks noChangeAspect="1"/>
          </p:cNvPicPr>
          <p:nvPr/>
        </p:nvPicPr>
        <p:blipFill>
          <a:blip r:embed="rId1"/>
          <a:stretch>
            <a:fillRect/>
          </a:stretch>
        </p:blipFill>
        <p:spPr>
          <a:xfrm>
            <a:off x="5486400" y="1417320"/>
            <a:ext cx="3108960" cy="1755648"/>
          </a:xfrm>
          <a:prstGeom prst="rect">
            <a:avLst/>
          </a:prstGeom>
        </p:spPr>
      </p:pic>
      <p:sp>
        <p:nvSpPr>
          <p:cNvPr id="7" name="Text 4"/>
          <p:cNvSpPr txBox="1"/>
          <p:nvPr/>
        </p:nvSpPr>
        <p:spPr>
          <a:xfrm>
            <a:off x="5532120" y="3291840"/>
            <a:ext cx="3017520" cy="457200"/>
          </a:xfrm>
          <a:prstGeom prst="rect">
            <a:avLst/>
          </a:prstGeom>
          <a:noFill/>
          <a:ln/>
        </p:spPr>
        <p:txBody>
          <a:bodyPr wrap="square" lIns="0" tIns="0" rIns="0" bIns="0" rtlCol="0" anchor="t"/>
          <a:lstStyle/>
          <a:p>
            <a:pPr algn="l" indent="0" marL="0">
              <a:buNone/>
            </a:pPr>
            <a:r>
              <a:rPr lang="en-US" sz="1200" dirty="0">
                <a:solidFill>
                  <a:schemeClr val="accent5"/>
                </a:solidFill>
              </a:rPr>
              <a:t>Average power by hour of day (from the notebook)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Text 1"/>
          <p:cNvSpPr txBox="1"/>
          <p:nvPr/>
        </p:nvSpPr>
        <p:spPr>
          <a:xfrm>
            <a:off x="457200" y="1188720"/>
            <a:ext cx="4023360" cy="320040"/>
          </a:xfrm>
          <a:prstGeom prst="rect">
            <a:avLst/>
          </a:prstGeom>
          <a:noFill/>
          <a:ln/>
        </p:spPr>
        <p:txBody>
          <a:bodyPr wrap="square" lIns="0" tIns="0" rIns="0" bIns="0" rtlCol="0" anchor="t"/>
          <a:lstStyle/>
          <a:p>
            <a:pPr indent="0" marL="0">
              <a:buNone/>
            </a:pPr>
            <a:r>
              <a:rPr lang="en-US" sz="1800" b="1" dirty="0">
                <a:solidFill>
                  <a:schemeClr val="tx2"/>
                </a:solidFill>
              </a:rPr>
              <a:t>Why forecast household electricity use?</a:t>
            </a:r>
            <a:endParaRPr lang="en-US" sz="1800" dirty="0"/>
          </a:p>
        </p:txBody>
      </p:sp>
      <p:sp>
        <p:nvSpPr>
          <p:cNvPr id="4" name="Why it matters"/>
          <p:cNvSpPr txBox="1"/>
          <p:nvPr/>
        </p:nvSpPr>
        <p:spPr>
          <a:xfrm>
            <a:off x="457200" y="1645920"/>
            <a:ext cx="40233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Helps suppliers plan electricity supply</a:t>
            </a:r>
            <a:endParaRPr lang="en-US" sz="1600" dirty="0"/>
          </a:p>
          <a:p>
            <a:pPr marL="342900" indent="-342900">
              <a:spcAft>
                <a:spcPts val="800"/>
              </a:spcAft>
              <a:buSzPct val="100000"/>
              <a:buChar char="•"/>
            </a:pPr>
            <a:r>
              <a:rPr lang="en-US" sz="1600" dirty="0">
                <a:solidFill>
                  <a:schemeClr val="tx1"/>
                </a:solidFill>
              </a:rPr>
              <a:t>Supports smart homes and demand response</a:t>
            </a:r>
            <a:endParaRPr lang="en-US" sz="1600" dirty="0"/>
          </a:p>
          <a:p>
            <a:pPr marL="342900" indent="-342900">
              <a:spcAft>
                <a:spcPts val="800"/>
              </a:spcAft>
              <a:buSzPct val="100000"/>
              <a:buChar char="•"/>
            </a:pPr>
            <a:r>
              <a:rPr lang="en-US" sz="1600" dirty="0">
                <a:solidFill>
                  <a:schemeClr val="tx1"/>
                </a:solidFill>
              </a:rPr>
              <a:t>Helps households understand their own usage</a:t>
            </a:r>
            <a:endParaRPr lang="en-US" sz="1600" dirty="0"/>
          </a:p>
          <a:p>
            <a:pPr marL="342900" indent="-342900">
              <a:spcAft>
                <a:spcPts val="800"/>
              </a:spcAft>
              <a:buSzPct val="100000"/>
              <a:buChar char="•"/>
            </a:pPr>
            <a:r>
              <a:rPr lang="en-US" sz="1600" dirty="0">
                <a:solidFill>
                  <a:schemeClr val="tx1"/>
                </a:solidFill>
              </a:rPr>
              <a:t>One household's usage is spiky and hard to predict</a:t>
            </a:r>
            <a:endParaRPr lang="en-US" sz="1600" dirty="0"/>
          </a:p>
        </p:txBody>
      </p:sp>
      <p:sp>
        <p:nvSpPr>
          <p:cNvPr id="5" name="Input box"/>
          <p:cNvSpPr/>
          <p:nvPr/>
        </p:nvSpPr>
        <p:spPr>
          <a:xfrm>
            <a:off x="4937760" y="1188720"/>
            <a:ext cx="3749040" cy="713232"/>
          </a:xfrm>
          <a:prstGeom prst="roundRect">
            <a:avLst>
              <a:gd name="adj" fmla="val 10256"/>
            </a:avLst>
          </a:prstGeom>
          <a:solidFill>
            <a:schemeClr val="bg2"/>
          </a:solidFill>
          <a:ln w="12700">
            <a:solidFill>
              <a:schemeClr val="accent3"/>
            </a:solidFill>
            <a:prstDash val="solid"/>
          </a:ln>
        </p:spPr>
      </p:sp>
      <p:sp>
        <p:nvSpPr>
          <p:cNvPr id="6" name="Input box text"/>
          <p:cNvSpPr txBox="1"/>
          <p:nvPr/>
        </p:nvSpPr>
        <p:spPr>
          <a:xfrm>
            <a:off x="5074920" y="1188720"/>
            <a:ext cx="3474720" cy="713232"/>
          </a:xfrm>
          <a:prstGeom prst="rect">
            <a:avLst/>
          </a:prstGeom>
          <a:noFill/>
          <a:ln/>
        </p:spPr>
        <p:txBody>
          <a:bodyPr wrap="square" lIns="0" tIns="0" rIns="0" bIns="0" rtlCol="0" anchor="ctr"/>
          <a:lstStyle/>
          <a:p>
            <a:pPr indent="0" marL="0">
              <a:buNone/>
            </a:pPr>
            <a:r>
              <a:rPr lang="en-US" sz="1400" b="1" dirty="0">
                <a:solidFill>
                  <a:schemeClr val="tx1"/>
                </a:solidFill>
              </a:rPr>
              <a:t>Input: recent history</a:t>
            </a:r>
            <a:endParaRPr lang="en-US" sz="1400" dirty="0"/>
          </a:p>
          <a:p>
            <a:pPr indent="0" marL="0">
              <a:buNone/>
            </a:pPr>
            <a:r>
              <a:rPr lang="en-US" sz="1200" dirty="0">
                <a:solidFill>
                  <a:schemeClr val="tx1"/>
                </a:solidFill>
              </a:rPr>
              <a:t>Past usage, hour, day, month</a:t>
            </a:r>
            <a:endParaRPr lang="en-US" sz="1400" dirty="0"/>
          </a:p>
        </p:txBody>
      </p:sp>
      <p:sp>
        <p:nvSpPr>
          <p:cNvPr id="7" name="Arrow 1"/>
          <p:cNvSpPr/>
          <p:nvPr/>
        </p:nvSpPr>
        <p:spPr>
          <a:xfrm>
            <a:off x="6675120" y="1938528"/>
            <a:ext cx="274320" cy="274320"/>
          </a:xfrm>
          <a:prstGeom prst="downArrow">
            <a:avLst/>
          </a:prstGeom>
          <a:solidFill>
            <a:schemeClr val="accent2"/>
          </a:solidFill>
          <a:ln w="12700">
            <a:solidFill>
              <a:schemeClr val="accent2"/>
            </a:solidFill>
            <a:prstDash val="solid"/>
          </a:ln>
        </p:spPr>
      </p:sp>
      <p:sp>
        <p:nvSpPr>
          <p:cNvPr id="8" name="Model box"/>
          <p:cNvSpPr/>
          <p:nvPr/>
        </p:nvSpPr>
        <p:spPr>
          <a:xfrm>
            <a:off x="4937760" y="2286000"/>
            <a:ext cx="3749040" cy="713232"/>
          </a:xfrm>
          <a:prstGeom prst="roundRect">
            <a:avLst>
              <a:gd name="adj" fmla="val 10256"/>
            </a:avLst>
          </a:prstGeom>
          <a:solidFill>
            <a:schemeClr val="accent1"/>
          </a:solidFill>
          <a:ln w="12700">
            <a:solidFill>
              <a:schemeClr val="accent1"/>
            </a:solidFill>
            <a:prstDash val="solid"/>
          </a:ln>
        </p:spPr>
      </p:sp>
      <p:sp>
        <p:nvSpPr>
          <p:cNvPr id="9" name="Model box text"/>
          <p:cNvSpPr txBox="1"/>
          <p:nvPr/>
        </p:nvSpPr>
        <p:spPr>
          <a:xfrm>
            <a:off x="5074920" y="2286000"/>
            <a:ext cx="3474720" cy="713232"/>
          </a:xfrm>
          <a:prstGeom prst="rect">
            <a:avLst/>
          </a:prstGeom>
          <a:noFill/>
          <a:ln/>
        </p:spPr>
        <p:txBody>
          <a:bodyPr wrap="square" lIns="0" tIns="0" rIns="0" bIns="0" rtlCol="0" anchor="ctr"/>
          <a:lstStyle/>
          <a:p>
            <a:pPr indent="0" marL="0">
              <a:buNone/>
            </a:pPr>
            <a:r>
              <a:rPr lang="en-US" sz="1400" b="1" dirty="0">
                <a:solidFill>
                  <a:schemeClr val="bg1"/>
                </a:solidFill>
              </a:rPr>
              <a:t>Machine learning model</a:t>
            </a:r>
            <a:endParaRPr lang="en-US" sz="1400" dirty="0"/>
          </a:p>
          <a:p>
            <a:pPr indent="0" marL="0">
              <a:buNone/>
            </a:pPr>
            <a:r>
              <a:rPr lang="en-US" sz="1200" dirty="0">
                <a:solidFill>
                  <a:schemeClr val="bg1"/>
                </a:solidFill>
              </a:rPr>
              <a:t>Learns patterns from past data</a:t>
            </a:r>
            <a:endParaRPr lang="en-US" sz="1400" dirty="0"/>
          </a:p>
        </p:txBody>
      </p:sp>
      <p:sp>
        <p:nvSpPr>
          <p:cNvPr id="10" name="Arrow 2"/>
          <p:cNvSpPr/>
          <p:nvPr/>
        </p:nvSpPr>
        <p:spPr>
          <a:xfrm>
            <a:off x="6675120" y="3035808"/>
            <a:ext cx="274320" cy="274320"/>
          </a:xfrm>
          <a:prstGeom prst="downArrow">
            <a:avLst/>
          </a:prstGeom>
          <a:solidFill>
            <a:schemeClr val="accent2"/>
          </a:solidFill>
          <a:ln w="12700">
            <a:solidFill>
              <a:schemeClr val="accent2"/>
            </a:solidFill>
            <a:prstDash val="solid"/>
          </a:ln>
        </p:spPr>
      </p:sp>
      <p:sp>
        <p:nvSpPr>
          <p:cNvPr id="11" name="Output box"/>
          <p:cNvSpPr/>
          <p:nvPr/>
        </p:nvSpPr>
        <p:spPr>
          <a:xfrm>
            <a:off x="4937760" y="3383280"/>
            <a:ext cx="3749040" cy="713232"/>
          </a:xfrm>
          <a:prstGeom prst="roundRect">
            <a:avLst>
              <a:gd name="adj" fmla="val 10256"/>
            </a:avLst>
          </a:prstGeom>
          <a:solidFill>
            <a:schemeClr val="bg2"/>
          </a:solidFill>
          <a:ln w="12700">
            <a:solidFill>
              <a:schemeClr val="accent3"/>
            </a:solidFill>
            <a:prstDash val="solid"/>
          </a:ln>
        </p:spPr>
      </p:sp>
      <p:sp>
        <p:nvSpPr>
          <p:cNvPr id="12" name="Output box text"/>
          <p:cNvSpPr txBox="1"/>
          <p:nvPr/>
        </p:nvSpPr>
        <p:spPr>
          <a:xfrm>
            <a:off x="5074920" y="3383280"/>
            <a:ext cx="3474720" cy="713232"/>
          </a:xfrm>
          <a:prstGeom prst="rect">
            <a:avLst/>
          </a:prstGeom>
          <a:noFill/>
          <a:ln/>
        </p:spPr>
        <p:txBody>
          <a:bodyPr wrap="square" lIns="0" tIns="0" rIns="0" bIns="0" rtlCol="0" anchor="ctr"/>
          <a:lstStyle/>
          <a:p>
            <a:pPr indent="0" marL="0">
              <a:buNone/>
            </a:pPr>
            <a:r>
              <a:rPr lang="en-US" sz="1400" b="1" dirty="0">
                <a:solidFill>
                  <a:schemeClr val="tx1"/>
                </a:solidFill>
              </a:rPr>
              <a:t>Output: next hour</a:t>
            </a:r>
            <a:endParaRPr lang="en-US" sz="1400" dirty="0"/>
          </a:p>
          <a:p>
            <a:pPr indent="0" marL="0">
              <a:buNone/>
            </a:pPr>
            <a:r>
              <a:rPr lang="en-US" sz="1200" dirty="0">
                <a:solidFill>
                  <a:schemeClr val="tx1"/>
                </a:solidFill>
              </a:rPr>
              <a:t>Mean active power (kW)</a:t>
            </a:r>
            <a:endParaRPr lang="en-US" sz="1400" dirty="0"/>
          </a:p>
        </p:txBody>
      </p:sp>
      <p:sp>
        <p:nvSpPr>
          <p:cNvPr id="13" name="Question card"/>
          <p:cNvSpPr/>
          <p:nvPr/>
        </p:nvSpPr>
        <p:spPr>
          <a:xfrm>
            <a:off x="457200" y="4069080"/>
            <a:ext cx="8229600" cy="548640"/>
          </a:xfrm>
          <a:prstGeom prst="roundRect">
            <a:avLst>
              <a:gd name="adj" fmla="val 13333"/>
            </a:avLst>
          </a:prstGeom>
          <a:solidFill>
            <a:schemeClr val="bg2"/>
          </a:solidFill>
          <a:ln w="9525">
            <a:solidFill>
              <a:schemeClr val="accent4"/>
            </a:solidFill>
            <a:prstDash val="solid"/>
          </a:ln>
        </p:spPr>
      </p:sp>
      <p:sp>
        <p:nvSpPr>
          <p:cNvPr id="14" name="Text 12"/>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2"/>
                </a:solidFill>
              </a:rPr>
              <a:t>Question: how much electricity will this household use in the next hour?</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Dataset</a:t>
            </a:r>
            <a:endParaRPr lang="en-US" sz="3400" dirty="0"/>
          </a:p>
        </p:txBody>
      </p:sp>
      <p:sp>
        <p:nvSpPr>
          <p:cNvPr id="3"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600" b="1" dirty="0">
                <a:solidFill>
                  <a:schemeClr val="accent2"/>
                </a:solidFill>
              </a:rPr>
              <a:t>UCI Individual Household Electric Power Consumption Dataset</a:t>
            </a:r>
            <a:endParaRPr lang="en-US" sz="1600" dirty="0"/>
          </a:p>
        </p:txBody>
      </p:sp>
      <p:sp>
        <p:nvSpPr>
          <p:cNvPr id="4" name="Stat card 1"/>
          <p:cNvSpPr/>
          <p:nvPr/>
        </p:nvSpPr>
        <p:spPr>
          <a:xfrm>
            <a:off x="457200" y="1508760"/>
            <a:ext cx="1920240" cy="1234440"/>
          </a:xfrm>
          <a:prstGeom prst="roundRect">
            <a:avLst>
              <a:gd name="adj" fmla="val 5926"/>
            </a:avLst>
          </a:prstGeom>
          <a:solidFill>
            <a:schemeClr val="bg2"/>
          </a:solidFill>
          <a:ln w="9525">
            <a:solidFill>
              <a:schemeClr val="accent4"/>
            </a:solidFill>
            <a:prstDash val="solid"/>
          </a:ln>
        </p:spPr>
      </p:sp>
      <p:sp>
        <p:nvSpPr>
          <p:cNvPr id="5" name="Stat value 1"/>
          <p:cNvSpPr txBox="1"/>
          <p:nvPr/>
        </p:nvSpPr>
        <p:spPr>
          <a:xfrm>
            <a:off x="457200" y="1645920"/>
            <a:ext cx="1920240" cy="502920"/>
          </a:xfrm>
          <a:prstGeom prst="rect">
            <a:avLst/>
          </a:prstGeom>
          <a:noFill/>
          <a:ln/>
        </p:spPr>
        <p:txBody>
          <a:bodyPr wrap="square" lIns="0" tIns="0" rIns="0" bIns="0" rtlCol="0" anchor="t"/>
          <a:lstStyle/>
          <a:p>
            <a:pPr algn="ctr" indent="0" marL="0">
              <a:buNone/>
            </a:pPr>
            <a:r>
              <a:rPr lang="en-US" sz="2600" b="1" dirty="0">
                <a:solidFill>
                  <a:schemeClr val="tx2"/>
                </a:solidFill>
              </a:rPr>
              <a:t>2,075,259</a:t>
            </a:r>
            <a:endParaRPr lang="en-US" sz="2600" dirty="0"/>
          </a:p>
        </p:txBody>
      </p:sp>
      <p:sp>
        <p:nvSpPr>
          <p:cNvPr id="6" name="Stat label 1"/>
          <p:cNvSpPr txBox="1"/>
          <p:nvPr/>
        </p:nvSpPr>
        <p:spPr>
          <a:xfrm>
            <a:off x="548640" y="2194560"/>
            <a:ext cx="1737360" cy="457200"/>
          </a:xfrm>
          <a:prstGeom prst="rect">
            <a:avLst/>
          </a:prstGeom>
          <a:noFill/>
          <a:ln/>
        </p:spPr>
        <p:txBody>
          <a:bodyPr wrap="square" lIns="0" tIns="0" rIns="0" bIns="0" rtlCol="0" anchor="t"/>
          <a:lstStyle/>
          <a:p>
            <a:pPr algn="ctr" indent="0" marL="0">
              <a:buNone/>
            </a:pPr>
            <a:r>
              <a:rPr lang="en-US" sz="1300" dirty="0">
                <a:solidFill>
                  <a:schemeClr val="accent5"/>
                </a:solidFill>
              </a:rPr>
              <a:t>raw minute-level records</a:t>
            </a:r>
            <a:endParaRPr lang="en-US" sz="1300" dirty="0"/>
          </a:p>
        </p:txBody>
      </p:sp>
      <p:sp>
        <p:nvSpPr>
          <p:cNvPr id="7" name="Stat card 2"/>
          <p:cNvSpPr/>
          <p:nvPr/>
        </p:nvSpPr>
        <p:spPr>
          <a:xfrm>
            <a:off x="2560320" y="1508760"/>
            <a:ext cx="1920240" cy="1234440"/>
          </a:xfrm>
          <a:prstGeom prst="roundRect">
            <a:avLst>
              <a:gd name="adj" fmla="val 5926"/>
            </a:avLst>
          </a:prstGeom>
          <a:solidFill>
            <a:schemeClr val="bg2"/>
          </a:solidFill>
          <a:ln w="9525">
            <a:solidFill>
              <a:schemeClr val="accent4"/>
            </a:solidFill>
            <a:prstDash val="solid"/>
          </a:ln>
        </p:spPr>
      </p:sp>
      <p:sp>
        <p:nvSpPr>
          <p:cNvPr id="8" name="Stat value 2"/>
          <p:cNvSpPr txBox="1"/>
          <p:nvPr/>
        </p:nvSpPr>
        <p:spPr>
          <a:xfrm>
            <a:off x="2560320" y="1645920"/>
            <a:ext cx="1920240" cy="502920"/>
          </a:xfrm>
          <a:prstGeom prst="rect">
            <a:avLst/>
          </a:prstGeom>
          <a:noFill/>
          <a:ln/>
        </p:spPr>
        <p:txBody>
          <a:bodyPr wrap="square" lIns="0" tIns="0" rIns="0" bIns="0" rtlCol="0" anchor="t"/>
          <a:lstStyle/>
          <a:p>
            <a:pPr algn="ctr" indent="0" marL="0">
              <a:buNone/>
            </a:pPr>
            <a:r>
              <a:rPr lang="en-US" sz="2600" b="1" dirty="0">
                <a:solidFill>
                  <a:schemeClr val="tx2"/>
                </a:solidFill>
              </a:rPr>
              <a:t>2006–2010</a:t>
            </a:r>
            <a:endParaRPr lang="en-US" sz="2600" dirty="0"/>
          </a:p>
        </p:txBody>
      </p:sp>
      <p:sp>
        <p:nvSpPr>
          <p:cNvPr id="9" name="Stat label 2"/>
          <p:cNvSpPr txBox="1"/>
          <p:nvPr/>
        </p:nvSpPr>
        <p:spPr>
          <a:xfrm>
            <a:off x="2651760" y="2194560"/>
            <a:ext cx="1737360" cy="457200"/>
          </a:xfrm>
          <a:prstGeom prst="rect">
            <a:avLst/>
          </a:prstGeom>
          <a:noFill/>
          <a:ln/>
        </p:spPr>
        <p:txBody>
          <a:bodyPr wrap="square" lIns="0" tIns="0" rIns="0" bIns="0" rtlCol="0" anchor="t"/>
          <a:lstStyle/>
          <a:p>
            <a:pPr algn="ctr" indent="0" marL="0">
              <a:buNone/>
            </a:pPr>
            <a:r>
              <a:rPr lang="en-US" sz="1300" dirty="0">
                <a:solidFill>
                  <a:schemeClr val="accent5"/>
                </a:solidFill>
              </a:rPr>
              <a:t>Dec 2006 to Nov 2010</a:t>
            </a:r>
            <a:endParaRPr lang="en-US" sz="1300" dirty="0"/>
          </a:p>
        </p:txBody>
      </p:sp>
      <p:sp>
        <p:nvSpPr>
          <p:cNvPr id="10" name="Stat card 3"/>
          <p:cNvSpPr/>
          <p:nvPr/>
        </p:nvSpPr>
        <p:spPr>
          <a:xfrm>
            <a:off x="4663440" y="1508760"/>
            <a:ext cx="1920240" cy="1234440"/>
          </a:xfrm>
          <a:prstGeom prst="roundRect">
            <a:avLst>
              <a:gd name="adj" fmla="val 5926"/>
            </a:avLst>
          </a:prstGeom>
          <a:solidFill>
            <a:schemeClr val="bg2"/>
          </a:solidFill>
          <a:ln w="9525">
            <a:solidFill>
              <a:schemeClr val="accent4"/>
            </a:solidFill>
            <a:prstDash val="solid"/>
          </a:ln>
        </p:spPr>
      </p:sp>
      <p:sp>
        <p:nvSpPr>
          <p:cNvPr id="11" name="Stat value 3"/>
          <p:cNvSpPr txBox="1"/>
          <p:nvPr/>
        </p:nvSpPr>
        <p:spPr>
          <a:xfrm>
            <a:off x="4663440" y="1645920"/>
            <a:ext cx="1920240" cy="502920"/>
          </a:xfrm>
          <a:prstGeom prst="rect">
            <a:avLst/>
          </a:prstGeom>
          <a:noFill/>
          <a:ln/>
        </p:spPr>
        <p:txBody>
          <a:bodyPr wrap="square" lIns="0" tIns="0" rIns="0" bIns="0" rtlCol="0" anchor="t"/>
          <a:lstStyle/>
          <a:p>
            <a:pPr algn="ctr" indent="0" marL="0">
              <a:buNone/>
            </a:pPr>
            <a:r>
              <a:rPr lang="en-US" sz="2600" b="1" dirty="0">
                <a:solidFill>
                  <a:schemeClr val="tx2"/>
                </a:solidFill>
              </a:rPr>
              <a:t>34,168</a:t>
            </a:r>
            <a:endParaRPr lang="en-US" sz="2600" dirty="0"/>
          </a:p>
        </p:txBody>
      </p:sp>
      <p:sp>
        <p:nvSpPr>
          <p:cNvPr id="12" name="Stat label 3"/>
          <p:cNvSpPr txBox="1"/>
          <p:nvPr/>
        </p:nvSpPr>
        <p:spPr>
          <a:xfrm>
            <a:off x="4754880" y="2194560"/>
            <a:ext cx="1737360" cy="457200"/>
          </a:xfrm>
          <a:prstGeom prst="rect">
            <a:avLst/>
          </a:prstGeom>
          <a:noFill/>
          <a:ln/>
        </p:spPr>
        <p:txBody>
          <a:bodyPr wrap="square" lIns="0" tIns="0" rIns="0" bIns="0" rtlCol="0" anchor="t"/>
          <a:lstStyle/>
          <a:p>
            <a:pPr algn="ctr" indent="0" marL="0">
              <a:buNone/>
            </a:pPr>
            <a:r>
              <a:rPr lang="en-US" sz="1300" dirty="0">
                <a:solidFill>
                  <a:schemeClr val="accent5"/>
                </a:solidFill>
              </a:rPr>
              <a:t>hourly records</a:t>
            </a:r>
            <a:endParaRPr lang="en-US" sz="1300" dirty="0"/>
          </a:p>
        </p:txBody>
      </p:sp>
      <p:sp>
        <p:nvSpPr>
          <p:cNvPr id="13" name="Stat card 4"/>
          <p:cNvSpPr/>
          <p:nvPr/>
        </p:nvSpPr>
        <p:spPr>
          <a:xfrm>
            <a:off x="6766560" y="1508760"/>
            <a:ext cx="1920240" cy="1234440"/>
          </a:xfrm>
          <a:prstGeom prst="roundRect">
            <a:avLst>
              <a:gd name="adj" fmla="val 5926"/>
            </a:avLst>
          </a:prstGeom>
          <a:solidFill>
            <a:schemeClr val="bg2"/>
          </a:solidFill>
          <a:ln w="9525">
            <a:solidFill>
              <a:schemeClr val="accent4"/>
            </a:solidFill>
            <a:prstDash val="solid"/>
          </a:ln>
        </p:spPr>
      </p:sp>
      <p:sp>
        <p:nvSpPr>
          <p:cNvPr id="14" name="Stat value 4"/>
          <p:cNvSpPr txBox="1"/>
          <p:nvPr/>
        </p:nvSpPr>
        <p:spPr>
          <a:xfrm>
            <a:off x="6766560" y="1645920"/>
            <a:ext cx="1920240" cy="502920"/>
          </a:xfrm>
          <a:prstGeom prst="rect">
            <a:avLst/>
          </a:prstGeom>
          <a:noFill/>
          <a:ln/>
        </p:spPr>
        <p:txBody>
          <a:bodyPr wrap="square" lIns="0" tIns="0" rIns="0" bIns="0" rtlCol="0" anchor="t"/>
          <a:lstStyle/>
          <a:p>
            <a:pPr algn="ctr" indent="0" marL="0">
              <a:buNone/>
            </a:pPr>
            <a:r>
              <a:rPr lang="en-US" sz="2600" b="1" dirty="0">
                <a:solidFill>
                  <a:schemeClr val="tx2"/>
                </a:solidFill>
              </a:rPr>
              <a:t>33,999</a:t>
            </a:r>
            <a:endParaRPr lang="en-US" sz="2600" dirty="0"/>
          </a:p>
        </p:txBody>
      </p:sp>
      <p:sp>
        <p:nvSpPr>
          <p:cNvPr id="15" name="Stat label 4"/>
          <p:cNvSpPr txBox="1"/>
          <p:nvPr/>
        </p:nvSpPr>
        <p:spPr>
          <a:xfrm>
            <a:off x="6858000" y="2194560"/>
            <a:ext cx="1737360" cy="457200"/>
          </a:xfrm>
          <a:prstGeom prst="rect">
            <a:avLst/>
          </a:prstGeom>
          <a:noFill/>
          <a:ln/>
        </p:spPr>
        <p:txBody>
          <a:bodyPr wrap="square" lIns="0" tIns="0" rIns="0" bIns="0" rtlCol="0" anchor="t"/>
          <a:lstStyle/>
          <a:p>
            <a:pPr algn="ctr" indent="0" marL="0">
              <a:buNone/>
            </a:pPr>
            <a:r>
              <a:rPr lang="en-US" sz="1300" dirty="0">
                <a:solidFill>
                  <a:schemeClr val="accent5"/>
                </a:solidFill>
              </a:rPr>
              <a:t>rows used for modelling</a:t>
            </a:r>
            <a:endParaRPr lang="en-US" sz="1300" dirty="0"/>
          </a:p>
        </p:txBody>
      </p:sp>
      <p:sp>
        <p:nvSpPr>
          <p:cNvPr id="16" name="Target card"/>
          <p:cNvSpPr/>
          <p:nvPr/>
        </p:nvSpPr>
        <p:spPr>
          <a:xfrm>
            <a:off x="457200" y="3017520"/>
            <a:ext cx="4023360" cy="1554480"/>
          </a:xfrm>
          <a:prstGeom prst="roundRect">
            <a:avLst>
              <a:gd name="adj" fmla="val 4706"/>
            </a:avLst>
          </a:prstGeom>
          <a:solidFill>
            <a:schemeClr val="bg2"/>
          </a:solidFill>
          <a:ln w="9525">
            <a:solidFill>
              <a:schemeClr val="accent4"/>
            </a:solidFill>
            <a:prstDash val="solid"/>
          </a:ln>
        </p:spPr>
      </p:sp>
      <p:sp>
        <p:nvSpPr>
          <p:cNvPr id="17" name="Text 15"/>
          <p:cNvSpPr txBox="1"/>
          <p:nvPr/>
        </p:nvSpPr>
        <p:spPr>
          <a:xfrm>
            <a:off x="640080" y="3108960"/>
            <a:ext cx="3657600" cy="320040"/>
          </a:xfrm>
          <a:prstGeom prst="rect">
            <a:avLst/>
          </a:prstGeom>
          <a:noFill/>
          <a:ln/>
        </p:spPr>
        <p:txBody>
          <a:bodyPr wrap="square" lIns="0" tIns="0" rIns="0" bIns="0" rtlCol="0" anchor="t"/>
          <a:lstStyle/>
          <a:p>
            <a:pPr indent="0" marL="0">
              <a:buNone/>
            </a:pPr>
            <a:r>
              <a:rPr lang="en-US" sz="1600" b="1" dirty="0">
                <a:solidFill>
                  <a:schemeClr val="tx2"/>
                </a:solidFill>
              </a:rPr>
              <a:t>Target (what we predict)</a:t>
            </a:r>
            <a:endParaRPr lang="en-US" sz="1600" dirty="0"/>
          </a:p>
        </p:txBody>
      </p:sp>
      <p:sp>
        <p:nvSpPr>
          <p:cNvPr id="18" name="Text 16"/>
          <p:cNvSpPr txBox="1"/>
          <p:nvPr/>
        </p:nvSpPr>
        <p:spPr>
          <a:xfrm>
            <a:off x="640080" y="3520440"/>
            <a:ext cx="3657600" cy="914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Mean active power (kW)</a:t>
            </a:r>
            <a:endParaRPr lang="en-US" sz="1600" dirty="0"/>
          </a:p>
          <a:p>
            <a:pPr marL="342900" indent="-342900">
              <a:spcAft>
                <a:spcPts val="600"/>
              </a:spcAft>
              <a:buSzPct val="100000"/>
              <a:buChar char="•"/>
            </a:pPr>
            <a:r>
              <a:rPr lang="en-US" sz="1600" dirty="0">
                <a:solidFill>
                  <a:schemeClr val="tx1"/>
                </a:solidFill>
              </a:rPr>
              <a:t>For the next hour</a:t>
            </a:r>
            <a:endParaRPr lang="en-US" sz="1600" dirty="0"/>
          </a:p>
        </p:txBody>
      </p:sp>
      <p:sp>
        <p:nvSpPr>
          <p:cNvPr id="19" name="Columns card"/>
          <p:cNvSpPr/>
          <p:nvPr/>
        </p:nvSpPr>
        <p:spPr>
          <a:xfrm>
            <a:off x="4663440" y="3017520"/>
            <a:ext cx="4023360" cy="1554480"/>
          </a:xfrm>
          <a:prstGeom prst="roundRect">
            <a:avLst>
              <a:gd name="adj" fmla="val 4706"/>
            </a:avLst>
          </a:prstGeom>
          <a:solidFill>
            <a:schemeClr val="bg2"/>
          </a:solidFill>
          <a:ln w="9525">
            <a:solidFill>
              <a:schemeClr val="accent4"/>
            </a:solidFill>
            <a:prstDash val="solid"/>
          </a:ln>
        </p:spPr>
      </p:sp>
      <p:sp>
        <p:nvSpPr>
          <p:cNvPr id="20" name="Text 18"/>
          <p:cNvSpPr txBox="1"/>
          <p:nvPr/>
        </p:nvSpPr>
        <p:spPr>
          <a:xfrm>
            <a:off x="4846320" y="3108960"/>
            <a:ext cx="3657600" cy="320040"/>
          </a:xfrm>
          <a:prstGeom prst="rect">
            <a:avLst/>
          </a:prstGeom>
          <a:noFill/>
          <a:ln/>
        </p:spPr>
        <p:txBody>
          <a:bodyPr wrap="square" lIns="0" tIns="0" rIns="0" bIns="0" rtlCol="0" anchor="t"/>
          <a:lstStyle/>
          <a:p>
            <a:pPr indent="0" marL="0">
              <a:buNone/>
            </a:pPr>
            <a:r>
              <a:rPr lang="en-US" sz="1600" b="1" dirty="0">
                <a:solidFill>
                  <a:schemeClr val="tx2"/>
                </a:solidFill>
              </a:rPr>
              <a:t>Measurements recorded (7)</a:t>
            </a:r>
            <a:endParaRPr lang="en-US" sz="1600" dirty="0"/>
          </a:p>
        </p:txBody>
      </p:sp>
      <p:sp>
        <p:nvSpPr>
          <p:cNvPr id="21" name="Text 19"/>
          <p:cNvSpPr txBox="1"/>
          <p:nvPr/>
        </p:nvSpPr>
        <p:spPr>
          <a:xfrm>
            <a:off x="4846320" y="3520440"/>
            <a:ext cx="36576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Active and reactive power, voltage, current</a:t>
            </a:r>
            <a:endParaRPr lang="en-US" sz="1400" dirty="0"/>
          </a:p>
          <a:p>
            <a:pPr marL="342900" indent="-342900">
              <a:spcAft>
                <a:spcPts val="400"/>
              </a:spcAft>
              <a:buSzPct val="100000"/>
              <a:buChar char="•"/>
            </a:pPr>
            <a:r>
              <a:rPr lang="en-US" sz="1400" dirty="0">
                <a:solidFill>
                  <a:schemeClr val="tx1"/>
                </a:solidFill>
              </a:rPr>
              <a:t>Three sub-meter readings</a:t>
            </a:r>
            <a:endParaRPr lang="en-US" sz="1400" dirty="0"/>
          </a:p>
          <a:p>
            <a:pPr marL="342900" indent="-342900">
              <a:spcAft>
                <a:spcPts val="400"/>
              </a:spcAft>
              <a:buSzPct val="100000"/>
              <a:buChar char="•"/>
            </a:pPr>
            <a:r>
              <a:rPr lang="en-US" sz="1400" dirty="0">
                <a:solidFill>
                  <a:schemeClr val="tx1"/>
                </a:solidFill>
              </a:rPr>
              <a:t>One household only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Data Understanding and Preprocessing</a:t>
            </a:r>
            <a:endParaRPr lang="en-US" sz="3400" dirty="0"/>
          </a:p>
        </p:txBody>
      </p:sp>
      <p:sp>
        <p:nvSpPr>
          <p:cNvPr id="3" name="Preprocessing bullets"/>
          <p:cNvSpPr txBox="1"/>
          <p:nvPr/>
        </p:nvSpPr>
        <p:spPr>
          <a:xfrm>
            <a:off x="457200" y="1188720"/>
            <a:ext cx="3840480" cy="32918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Missing values: </a:t>
            </a:r>
            <a:pPr indent="0" marL="0">
              <a:spcAft>
                <a:spcPts val="800"/>
              </a:spcAft>
              <a:buNone/>
            </a:pPr>
            <a:r>
              <a:rPr lang="en-US" sz="1400" dirty="0">
                <a:solidFill>
                  <a:schemeClr val="tx1"/>
                </a:solidFill>
              </a:rPr>
              <a:t>25,979 per column (about 1.25%), marked “?”</a:t>
            </a:r>
            <a:endParaRPr lang="en-US" sz="1400" dirty="0"/>
          </a:p>
          <a:p>
            <a:pPr marL="342900" indent="-342900">
              <a:spcAft>
                <a:spcPts val="800"/>
              </a:spcAft>
              <a:buSzPct val="100000"/>
              <a:buChar char="•"/>
            </a:pPr>
            <a:r>
              <a:rPr lang="en-US" sz="1400" b="1" dirty="0">
                <a:solidFill>
                  <a:schemeClr val="tx1"/>
                </a:solidFill>
              </a:rPr>
              <a:t>No duplicate rows </a:t>
            </a:r>
            <a:pPr indent="0" marL="0">
              <a:spcAft>
                <a:spcPts val="800"/>
              </a:spcAft>
              <a:buNone/>
            </a:pPr>
            <a:r>
              <a:rPr lang="en-US" sz="1400" dirty="0">
                <a:solidFill>
                  <a:schemeClr val="tx1"/>
                </a:solidFill>
              </a:rPr>
              <a:t>found</a:t>
            </a:r>
            <a:endParaRPr lang="en-US" sz="1400" dirty="0"/>
          </a:p>
          <a:p>
            <a:pPr marL="342900" indent="-342900">
              <a:spcAft>
                <a:spcPts val="800"/>
              </a:spcAft>
              <a:buSzPct val="100000"/>
              <a:buChar char="•"/>
            </a:pPr>
            <a:r>
              <a:rPr lang="en-US" sz="1400" b="1" dirty="0">
                <a:solidFill>
                  <a:schemeClr val="tx1"/>
                </a:solidFill>
              </a:rPr>
              <a:t>Date + Time </a:t>
            </a:r>
            <a:pPr indent="0" marL="0">
              <a:spcAft>
                <a:spcPts val="800"/>
              </a:spcAft>
              <a:buNone/>
            </a:pPr>
            <a:r>
              <a:rPr lang="en-US" sz="1400" dirty="0">
                <a:solidFill>
                  <a:schemeClr val="tx1"/>
                </a:solidFill>
              </a:rPr>
              <a:t>joined into one datetime, sorted</a:t>
            </a:r>
            <a:endParaRPr lang="en-US" sz="1400" dirty="0"/>
          </a:p>
          <a:p>
            <a:pPr marL="342900" indent="-342900">
              <a:spcAft>
                <a:spcPts val="800"/>
              </a:spcAft>
              <a:buSzPct val="100000"/>
              <a:buChar char="•"/>
            </a:pPr>
            <a:r>
              <a:rPr lang="en-US" sz="1400" b="1" dirty="0">
                <a:solidFill>
                  <a:schemeClr val="tx1"/>
                </a:solidFill>
              </a:rPr>
              <a:t>Hourly average: </a:t>
            </a:r>
            <a:pPr indent="0" marL="0">
              <a:spcAft>
                <a:spcPts val="800"/>
              </a:spcAft>
              <a:buNone/>
            </a:pPr>
            <a:r>
              <a:rPr lang="en-US" sz="1400" dirty="0">
                <a:solidFill>
                  <a:schemeClr val="tx1"/>
                </a:solidFill>
              </a:rPr>
              <a:t>2,075,259 minute records became 34,168 hourly records</a:t>
            </a:r>
            <a:endParaRPr lang="en-US" sz="1400" dirty="0"/>
          </a:p>
          <a:p>
            <a:pPr marL="342900" indent="-342900">
              <a:spcAft>
                <a:spcPts val="800"/>
              </a:spcAft>
              <a:buSzPct val="100000"/>
              <a:buChar char="•"/>
            </a:pPr>
            <a:r>
              <a:rPr lang="en-US" sz="1400" b="1" dirty="0">
                <a:solidFill>
                  <a:schemeClr val="tx1"/>
                </a:solidFill>
              </a:rPr>
              <a:t>Outliers kept, </a:t>
            </a:r>
            <a:pPr indent="0" marL="0">
              <a:spcAft>
                <a:spcPts val="800"/>
              </a:spcAft>
              <a:buNone/>
            </a:pPr>
            <a:r>
              <a:rPr lang="en-US" sz="1400" dirty="0">
                <a:solidFill>
                  <a:schemeClr val="tx1"/>
                </a:solidFill>
              </a:rPr>
              <a:t>because high usage can be real</a:t>
            </a:r>
            <a:endParaRPr lang="en-US" sz="1400" dirty="0"/>
          </a:p>
        </p:txBody>
      </p:sp>
      <p:pic>
        <p:nvPicPr>
          <p:cNvPr id="4" name="Hourly series plot" descr="Hourly mean global active power over 2006 to 2010 and Jan-Feb 2007">    </p:cNvPr>
          <p:cNvPicPr>
            <a:picLocks noChangeAspect="1"/>
          </p:cNvPicPr>
          <p:nvPr/>
        </p:nvPicPr>
        <p:blipFill>
          <a:blip r:embed="rId1"/>
          <a:stretch>
            <a:fillRect/>
          </a:stretch>
        </p:blipFill>
        <p:spPr>
          <a:xfrm>
            <a:off x="4480560" y="1188720"/>
            <a:ext cx="4206240" cy="2395728"/>
          </a:xfrm>
          <a:prstGeom prst="rect">
            <a:avLst/>
          </a:prstGeom>
        </p:spPr>
      </p:pic>
      <p:sp>
        <p:nvSpPr>
          <p:cNvPr id="5" name="Text 2"/>
          <p:cNvSpPr txBox="1"/>
          <p:nvPr/>
        </p:nvSpPr>
        <p:spPr>
          <a:xfrm>
            <a:off x="4480560" y="3657600"/>
            <a:ext cx="4206240" cy="457200"/>
          </a:xfrm>
          <a:prstGeom prst="rect">
            <a:avLst/>
          </a:prstGeom>
          <a:noFill/>
          <a:ln/>
        </p:spPr>
        <p:txBody>
          <a:bodyPr wrap="square" lIns="0" tIns="0" rIns="0" bIns="0" rtlCol="0" anchor="t"/>
          <a:lstStyle/>
          <a:p>
            <a:pPr indent="0" marL="0">
              <a:buNone/>
            </a:pPr>
            <a:r>
              <a:rPr lang="en-US" sz="1200" dirty="0">
                <a:solidFill>
                  <a:schemeClr val="accent5"/>
                </a:solidFill>
              </a:rPr>
              <a:t>Hourly mean active power (notebook plot): a clear repeating daily pattern with spikes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Predictive Modelling Workflow (KDD)</a:t>
            </a:r>
            <a:endParaRPr lang="en-US" sz="3400" dirty="0"/>
          </a:p>
        </p:txBody>
      </p:sp>
      <p:sp>
        <p:nvSpPr>
          <p:cNvPr id="3" name="Step box 1"/>
          <p:cNvSpPr/>
          <p:nvPr/>
        </p:nvSpPr>
        <p:spPr>
          <a:xfrm>
            <a:off x="457200" y="1280160"/>
            <a:ext cx="1828800" cy="1051560"/>
          </a:xfrm>
          <a:prstGeom prst="roundRect">
            <a:avLst>
              <a:gd name="adj" fmla="val 6957"/>
            </a:avLst>
          </a:prstGeom>
          <a:solidFill>
            <a:schemeClr val="bg2"/>
          </a:solidFill>
          <a:ln w="12700">
            <a:solidFill>
              <a:schemeClr val="accent3"/>
            </a:solidFill>
            <a:prstDash val="solid"/>
          </a:ln>
        </p:spPr>
      </p:sp>
      <p:sp>
        <p:nvSpPr>
          <p:cNvPr id="4" name="Step number 1"/>
          <p:cNvSpPr/>
          <p:nvPr/>
        </p:nvSpPr>
        <p:spPr>
          <a:xfrm>
            <a:off x="548640" y="1371600"/>
            <a:ext cx="292608" cy="292608"/>
          </a:xfrm>
          <a:prstGeom prst="ellipse">
            <a:avLst/>
          </a:prstGeom>
          <a:solidFill>
            <a:schemeClr val="accent1"/>
          </a:solidFill>
          <a:ln w="12700">
            <a:solidFill>
              <a:schemeClr val="accent1"/>
            </a:solidFill>
            <a:prstDash val="solid"/>
          </a:ln>
        </p:spPr>
      </p:sp>
      <p:sp>
        <p:nvSpPr>
          <p:cNvPr id="5" name="Text 3"/>
          <p:cNvSpPr txBox="1"/>
          <p:nvPr/>
        </p:nvSpPr>
        <p:spPr>
          <a:xfrm>
            <a:off x="548640" y="137160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Step text 1"/>
          <p:cNvSpPr txBox="1"/>
          <p:nvPr/>
        </p:nvSpPr>
        <p:spPr>
          <a:xfrm>
            <a:off x="548640" y="1691640"/>
            <a:ext cx="1645920" cy="594360"/>
          </a:xfrm>
          <a:prstGeom prst="rect">
            <a:avLst/>
          </a:prstGeom>
          <a:noFill/>
          <a:ln/>
        </p:spPr>
        <p:txBody>
          <a:bodyPr wrap="square" lIns="0" tIns="0" rIns="0" bIns="0" rtlCol="0" anchor="t"/>
          <a:lstStyle/>
          <a:p>
            <a:pPr indent="0" marL="0">
              <a:buNone/>
            </a:pPr>
            <a:r>
              <a:rPr lang="en-US" sz="1400" b="1" dirty="0">
                <a:solidFill>
                  <a:schemeClr val="tx2"/>
                </a:solidFill>
              </a:rPr>
              <a:t>Problem definition</a:t>
            </a:r>
            <a:endParaRPr lang="en-US" sz="1400" dirty="0"/>
          </a:p>
          <a:p>
            <a:pPr indent="0" marL="0">
              <a:buNone/>
            </a:pPr>
            <a:r>
              <a:rPr lang="en-US" sz="1200" dirty="0">
                <a:solidFill>
                  <a:schemeClr val="tx1"/>
                </a:solidFill>
              </a:rPr>
              <a:t>Predict next-hour power</a:t>
            </a:r>
            <a:endParaRPr lang="en-US" sz="1400" dirty="0"/>
          </a:p>
        </p:txBody>
      </p:sp>
      <p:sp>
        <p:nvSpPr>
          <p:cNvPr id="7" name="Arrow 1"/>
          <p:cNvSpPr/>
          <p:nvPr/>
        </p:nvSpPr>
        <p:spPr>
          <a:xfrm>
            <a:off x="2313432" y="1673352"/>
            <a:ext cx="246888" cy="256032"/>
          </a:xfrm>
          <a:prstGeom prst="rightArrow">
            <a:avLst/>
          </a:prstGeom>
          <a:solidFill>
            <a:schemeClr val="accent2"/>
          </a:solidFill>
          <a:ln w="12700">
            <a:solidFill>
              <a:schemeClr val="accent2"/>
            </a:solidFill>
            <a:prstDash val="solid"/>
          </a:ln>
        </p:spPr>
      </p:sp>
      <p:sp>
        <p:nvSpPr>
          <p:cNvPr id="8" name="Step box 2"/>
          <p:cNvSpPr/>
          <p:nvPr/>
        </p:nvSpPr>
        <p:spPr>
          <a:xfrm>
            <a:off x="2590495" y="1280160"/>
            <a:ext cx="1828800" cy="1051560"/>
          </a:xfrm>
          <a:prstGeom prst="roundRect">
            <a:avLst>
              <a:gd name="adj" fmla="val 6957"/>
            </a:avLst>
          </a:prstGeom>
          <a:solidFill>
            <a:schemeClr val="bg2"/>
          </a:solidFill>
          <a:ln w="12700">
            <a:solidFill>
              <a:schemeClr val="accent3"/>
            </a:solidFill>
            <a:prstDash val="solid"/>
          </a:ln>
        </p:spPr>
      </p:sp>
      <p:sp>
        <p:nvSpPr>
          <p:cNvPr id="9" name="Step number 2"/>
          <p:cNvSpPr/>
          <p:nvPr/>
        </p:nvSpPr>
        <p:spPr>
          <a:xfrm>
            <a:off x="2681935" y="1371600"/>
            <a:ext cx="292608" cy="292608"/>
          </a:xfrm>
          <a:prstGeom prst="ellipse">
            <a:avLst/>
          </a:prstGeom>
          <a:solidFill>
            <a:schemeClr val="accent1"/>
          </a:solidFill>
          <a:ln w="12700">
            <a:solidFill>
              <a:schemeClr val="accent1"/>
            </a:solidFill>
            <a:prstDash val="solid"/>
          </a:ln>
        </p:spPr>
      </p:sp>
      <p:sp>
        <p:nvSpPr>
          <p:cNvPr id="10" name="Text 8"/>
          <p:cNvSpPr txBox="1"/>
          <p:nvPr/>
        </p:nvSpPr>
        <p:spPr>
          <a:xfrm>
            <a:off x="2681935" y="137160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Step text 2"/>
          <p:cNvSpPr txBox="1"/>
          <p:nvPr/>
        </p:nvSpPr>
        <p:spPr>
          <a:xfrm>
            <a:off x="2681935" y="1691640"/>
            <a:ext cx="1645920" cy="594360"/>
          </a:xfrm>
          <a:prstGeom prst="rect">
            <a:avLst/>
          </a:prstGeom>
          <a:noFill/>
          <a:ln/>
        </p:spPr>
        <p:txBody>
          <a:bodyPr wrap="square" lIns="0" tIns="0" rIns="0" bIns="0" rtlCol="0" anchor="t"/>
          <a:lstStyle/>
          <a:p>
            <a:pPr indent="0" marL="0">
              <a:buNone/>
            </a:pPr>
            <a:r>
              <a:rPr lang="en-US" sz="1400" b="1" dirty="0">
                <a:solidFill>
                  <a:schemeClr val="tx2"/>
                </a:solidFill>
              </a:rPr>
              <a:t>Data understanding</a:t>
            </a:r>
            <a:endParaRPr lang="en-US" sz="1400" dirty="0"/>
          </a:p>
          <a:p>
            <a:pPr indent="0" marL="0">
              <a:buNone/>
            </a:pPr>
            <a:r>
              <a:rPr lang="en-US" sz="1200" dirty="0">
                <a:solidFill>
                  <a:schemeClr val="tx1"/>
                </a:solidFill>
              </a:rPr>
              <a:t>UCI data, 9 columns</a:t>
            </a:r>
            <a:endParaRPr lang="en-US" sz="1400" dirty="0"/>
          </a:p>
        </p:txBody>
      </p:sp>
      <p:sp>
        <p:nvSpPr>
          <p:cNvPr id="12" name="Arrow 2"/>
          <p:cNvSpPr/>
          <p:nvPr/>
        </p:nvSpPr>
        <p:spPr>
          <a:xfrm>
            <a:off x="4446727" y="1673352"/>
            <a:ext cx="246888" cy="256032"/>
          </a:xfrm>
          <a:prstGeom prst="rightArrow">
            <a:avLst/>
          </a:prstGeom>
          <a:solidFill>
            <a:schemeClr val="accent2"/>
          </a:solidFill>
          <a:ln w="12700">
            <a:solidFill>
              <a:schemeClr val="accent2"/>
            </a:solidFill>
            <a:prstDash val="solid"/>
          </a:ln>
        </p:spPr>
      </p:sp>
      <p:sp>
        <p:nvSpPr>
          <p:cNvPr id="13" name="Step box 3"/>
          <p:cNvSpPr/>
          <p:nvPr/>
        </p:nvSpPr>
        <p:spPr>
          <a:xfrm>
            <a:off x="4723790" y="1280160"/>
            <a:ext cx="1828800" cy="1051560"/>
          </a:xfrm>
          <a:prstGeom prst="roundRect">
            <a:avLst>
              <a:gd name="adj" fmla="val 6957"/>
            </a:avLst>
          </a:prstGeom>
          <a:solidFill>
            <a:schemeClr val="bg2"/>
          </a:solidFill>
          <a:ln w="12700">
            <a:solidFill>
              <a:schemeClr val="accent3"/>
            </a:solidFill>
            <a:prstDash val="solid"/>
          </a:ln>
        </p:spPr>
      </p:sp>
      <p:sp>
        <p:nvSpPr>
          <p:cNvPr id="14" name="Step number 3"/>
          <p:cNvSpPr/>
          <p:nvPr/>
        </p:nvSpPr>
        <p:spPr>
          <a:xfrm>
            <a:off x="4815230" y="1371600"/>
            <a:ext cx="292608" cy="292608"/>
          </a:xfrm>
          <a:prstGeom prst="ellipse">
            <a:avLst/>
          </a:prstGeom>
          <a:solidFill>
            <a:schemeClr val="accent1"/>
          </a:solidFill>
          <a:ln w="12700">
            <a:solidFill>
              <a:schemeClr val="accent1"/>
            </a:solidFill>
            <a:prstDash val="solid"/>
          </a:ln>
        </p:spPr>
      </p:sp>
      <p:sp>
        <p:nvSpPr>
          <p:cNvPr id="15" name="Text 13"/>
          <p:cNvSpPr txBox="1"/>
          <p:nvPr/>
        </p:nvSpPr>
        <p:spPr>
          <a:xfrm>
            <a:off x="4815230" y="137160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Step text 3"/>
          <p:cNvSpPr txBox="1"/>
          <p:nvPr/>
        </p:nvSpPr>
        <p:spPr>
          <a:xfrm>
            <a:off x="4815230" y="1691640"/>
            <a:ext cx="1645920" cy="594360"/>
          </a:xfrm>
          <a:prstGeom prst="rect">
            <a:avLst/>
          </a:prstGeom>
          <a:noFill/>
          <a:ln/>
        </p:spPr>
        <p:txBody>
          <a:bodyPr wrap="square" lIns="0" tIns="0" rIns="0" bIns="0" rtlCol="0" anchor="t"/>
          <a:lstStyle/>
          <a:p>
            <a:pPr indent="0" marL="0">
              <a:buNone/>
            </a:pPr>
            <a:r>
              <a:rPr lang="en-US" sz="1400" b="1" dirty="0">
                <a:solidFill>
                  <a:schemeClr val="tx2"/>
                </a:solidFill>
              </a:rPr>
              <a:t>Preprocessing</a:t>
            </a:r>
            <a:endParaRPr lang="en-US" sz="1400" dirty="0"/>
          </a:p>
          <a:p>
            <a:pPr indent="0" marL="0">
              <a:buNone/>
            </a:pPr>
            <a:r>
              <a:rPr lang="en-US" sz="1200" dirty="0">
                <a:solidFill>
                  <a:schemeClr val="tx1"/>
                </a:solidFill>
              </a:rPr>
              <a:t>Missing values, hourly mean</a:t>
            </a:r>
            <a:endParaRPr lang="en-US" sz="1400" dirty="0"/>
          </a:p>
        </p:txBody>
      </p:sp>
      <p:sp>
        <p:nvSpPr>
          <p:cNvPr id="17" name="Arrow 3"/>
          <p:cNvSpPr/>
          <p:nvPr/>
        </p:nvSpPr>
        <p:spPr>
          <a:xfrm>
            <a:off x="6580022" y="1673352"/>
            <a:ext cx="246888" cy="256032"/>
          </a:xfrm>
          <a:prstGeom prst="rightArrow">
            <a:avLst/>
          </a:prstGeom>
          <a:solidFill>
            <a:schemeClr val="accent2"/>
          </a:solidFill>
          <a:ln w="12700">
            <a:solidFill>
              <a:schemeClr val="accent2"/>
            </a:solidFill>
            <a:prstDash val="solid"/>
          </a:ln>
        </p:spPr>
      </p:sp>
      <p:sp>
        <p:nvSpPr>
          <p:cNvPr id="18" name="Step box 4"/>
          <p:cNvSpPr/>
          <p:nvPr/>
        </p:nvSpPr>
        <p:spPr>
          <a:xfrm>
            <a:off x="6857086" y="1280160"/>
            <a:ext cx="1828800" cy="1051560"/>
          </a:xfrm>
          <a:prstGeom prst="roundRect">
            <a:avLst>
              <a:gd name="adj" fmla="val 6957"/>
            </a:avLst>
          </a:prstGeom>
          <a:solidFill>
            <a:schemeClr val="bg2"/>
          </a:solidFill>
          <a:ln w="12700">
            <a:solidFill>
              <a:schemeClr val="accent3"/>
            </a:solidFill>
            <a:prstDash val="solid"/>
          </a:ln>
        </p:spPr>
      </p:sp>
      <p:sp>
        <p:nvSpPr>
          <p:cNvPr id="19" name="Step number 4"/>
          <p:cNvSpPr/>
          <p:nvPr/>
        </p:nvSpPr>
        <p:spPr>
          <a:xfrm>
            <a:off x="6948526" y="1371600"/>
            <a:ext cx="292608" cy="292608"/>
          </a:xfrm>
          <a:prstGeom prst="ellipse">
            <a:avLst/>
          </a:prstGeom>
          <a:solidFill>
            <a:schemeClr val="accent1"/>
          </a:solidFill>
          <a:ln w="12700">
            <a:solidFill>
              <a:schemeClr val="accent1"/>
            </a:solidFill>
            <a:prstDash val="solid"/>
          </a:ln>
        </p:spPr>
      </p:sp>
      <p:sp>
        <p:nvSpPr>
          <p:cNvPr id="20" name="Text 18"/>
          <p:cNvSpPr txBox="1"/>
          <p:nvPr/>
        </p:nvSpPr>
        <p:spPr>
          <a:xfrm>
            <a:off x="6948526" y="137160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Step text 4"/>
          <p:cNvSpPr txBox="1"/>
          <p:nvPr/>
        </p:nvSpPr>
        <p:spPr>
          <a:xfrm>
            <a:off x="6948526" y="1691640"/>
            <a:ext cx="1645920" cy="594360"/>
          </a:xfrm>
          <a:prstGeom prst="rect">
            <a:avLst/>
          </a:prstGeom>
          <a:noFill/>
          <a:ln/>
        </p:spPr>
        <p:txBody>
          <a:bodyPr wrap="square" lIns="0" tIns="0" rIns="0" bIns="0" rtlCol="0" anchor="t"/>
          <a:lstStyle/>
          <a:p>
            <a:pPr indent="0" marL="0">
              <a:buNone/>
            </a:pPr>
            <a:r>
              <a:rPr lang="en-US" sz="1400" b="1" dirty="0">
                <a:solidFill>
                  <a:schemeClr val="tx2"/>
                </a:solidFill>
              </a:rPr>
              <a:t>EDA</a:t>
            </a:r>
            <a:endParaRPr lang="en-US" sz="1400" dirty="0"/>
          </a:p>
          <a:p>
            <a:pPr indent="0" marL="0">
              <a:buNone/>
            </a:pPr>
            <a:r>
              <a:rPr lang="en-US" sz="1200" dirty="0">
                <a:solidFill>
                  <a:schemeClr val="tx1"/>
                </a:solidFill>
              </a:rPr>
              <a:t>Daily and weekly patterns</a:t>
            </a:r>
            <a:endParaRPr lang="en-US" sz="1400" dirty="0"/>
          </a:p>
        </p:txBody>
      </p:sp>
      <p:sp>
        <p:nvSpPr>
          <p:cNvPr id="22" name="Step box 5"/>
          <p:cNvSpPr/>
          <p:nvPr/>
        </p:nvSpPr>
        <p:spPr>
          <a:xfrm>
            <a:off x="457200" y="3017520"/>
            <a:ext cx="1828800" cy="1051560"/>
          </a:xfrm>
          <a:prstGeom prst="roundRect">
            <a:avLst>
              <a:gd name="adj" fmla="val 6957"/>
            </a:avLst>
          </a:prstGeom>
          <a:solidFill>
            <a:schemeClr val="bg2"/>
          </a:solidFill>
          <a:ln w="12700">
            <a:solidFill>
              <a:schemeClr val="accent3"/>
            </a:solidFill>
            <a:prstDash val="solid"/>
          </a:ln>
        </p:spPr>
      </p:sp>
      <p:sp>
        <p:nvSpPr>
          <p:cNvPr id="23" name="Step number 5"/>
          <p:cNvSpPr/>
          <p:nvPr/>
        </p:nvSpPr>
        <p:spPr>
          <a:xfrm>
            <a:off x="548640" y="3108960"/>
            <a:ext cx="292608" cy="292608"/>
          </a:xfrm>
          <a:prstGeom prst="ellipse">
            <a:avLst/>
          </a:prstGeom>
          <a:solidFill>
            <a:schemeClr val="accent1"/>
          </a:solidFill>
          <a:ln w="12700">
            <a:solidFill>
              <a:schemeClr val="accent1"/>
            </a:solidFill>
            <a:prstDash val="solid"/>
          </a:ln>
        </p:spPr>
      </p:sp>
      <p:sp>
        <p:nvSpPr>
          <p:cNvPr id="24" name="Text 22"/>
          <p:cNvSpPr txBox="1"/>
          <p:nvPr/>
        </p:nvSpPr>
        <p:spPr>
          <a:xfrm>
            <a:off x="548640" y="310896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Step text 5"/>
          <p:cNvSpPr txBox="1"/>
          <p:nvPr/>
        </p:nvSpPr>
        <p:spPr>
          <a:xfrm>
            <a:off x="548640" y="3429000"/>
            <a:ext cx="1645920" cy="594360"/>
          </a:xfrm>
          <a:prstGeom prst="rect">
            <a:avLst/>
          </a:prstGeom>
          <a:noFill/>
          <a:ln/>
        </p:spPr>
        <p:txBody>
          <a:bodyPr wrap="square" lIns="0" tIns="0" rIns="0" bIns="0" rtlCol="0" anchor="t"/>
          <a:lstStyle/>
          <a:p>
            <a:pPr indent="0" marL="0">
              <a:buNone/>
            </a:pPr>
            <a:r>
              <a:rPr lang="en-US" sz="1400" b="1" dirty="0">
                <a:solidFill>
                  <a:schemeClr val="tx2"/>
                </a:solidFill>
              </a:rPr>
              <a:t>Feature engineering</a:t>
            </a:r>
            <a:endParaRPr lang="en-US" sz="1400" dirty="0"/>
          </a:p>
          <a:p>
            <a:pPr indent="0" marL="0">
              <a:buNone/>
            </a:pPr>
            <a:r>
              <a:rPr lang="en-US" sz="1200" dirty="0">
                <a:solidFill>
                  <a:schemeClr val="tx1"/>
                </a:solidFill>
              </a:rPr>
              <a:t>Calendar, lag, rolling</a:t>
            </a:r>
            <a:endParaRPr lang="en-US" sz="1400" dirty="0"/>
          </a:p>
        </p:txBody>
      </p:sp>
      <p:sp>
        <p:nvSpPr>
          <p:cNvPr id="26" name="Arrow 5"/>
          <p:cNvSpPr/>
          <p:nvPr/>
        </p:nvSpPr>
        <p:spPr>
          <a:xfrm>
            <a:off x="2313432" y="3410712"/>
            <a:ext cx="246888" cy="256032"/>
          </a:xfrm>
          <a:prstGeom prst="rightArrow">
            <a:avLst/>
          </a:prstGeom>
          <a:solidFill>
            <a:schemeClr val="accent2"/>
          </a:solidFill>
          <a:ln w="12700">
            <a:solidFill>
              <a:schemeClr val="accent2"/>
            </a:solidFill>
            <a:prstDash val="solid"/>
          </a:ln>
        </p:spPr>
      </p:sp>
      <p:sp>
        <p:nvSpPr>
          <p:cNvPr id="27" name="Step box 6"/>
          <p:cNvSpPr/>
          <p:nvPr/>
        </p:nvSpPr>
        <p:spPr>
          <a:xfrm>
            <a:off x="2590495" y="3017520"/>
            <a:ext cx="1828800" cy="1051560"/>
          </a:xfrm>
          <a:prstGeom prst="roundRect">
            <a:avLst>
              <a:gd name="adj" fmla="val 6957"/>
            </a:avLst>
          </a:prstGeom>
          <a:solidFill>
            <a:schemeClr val="bg2"/>
          </a:solidFill>
          <a:ln w="12700">
            <a:solidFill>
              <a:schemeClr val="accent3"/>
            </a:solidFill>
            <a:prstDash val="solid"/>
          </a:ln>
        </p:spPr>
      </p:sp>
      <p:sp>
        <p:nvSpPr>
          <p:cNvPr id="28" name="Step number 6"/>
          <p:cNvSpPr/>
          <p:nvPr/>
        </p:nvSpPr>
        <p:spPr>
          <a:xfrm>
            <a:off x="2681935" y="3108960"/>
            <a:ext cx="292608" cy="292608"/>
          </a:xfrm>
          <a:prstGeom prst="ellipse">
            <a:avLst/>
          </a:prstGeom>
          <a:solidFill>
            <a:schemeClr val="accent1"/>
          </a:solidFill>
          <a:ln w="12700">
            <a:solidFill>
              <a:schemeClr val="accent1"/>
            </a:solidFill>
            <a:prstDash val="solid"/>
          </a:ln>
        </p:spPr>
      </p:sp>
      <p:sp>
        <p:nvSpPr>
          <p:cNvPr id="29" name="Text 27"/>
          <p:cNvSpPr txBox="1"/>
          <p:nvPr/>
        </p:nvSpPr>
        <p:spPr>
          <a:xfrm>
            <a:off x="2681935" y="310896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0" name="Step text 6"/>
          <p:cNvSpPr txBox="1"/>
          <p:nvPr/>
        </p:nvSpPr>
        <p:spPr>
          <a:xfrm>
            <a:off x="2681935" y="3429000"/>
            <a:ext cx="1645920" cy="594360"/>
          </a:xfrm>
          <a:prstGeom prst="rect">
            <a:avLst/>
          </a:prstGeom>
          <a:noFill/>
          <a:ln/>
        </p:spPr>
        <p:txBody>
          <a:bodyPr wrap="square" lIns="0" tIns="0" rIns="0" bIns="0" rtlCol="0" anchor="t"/>
          <a:lstStyle/>
          <a:p>
            <a:pPr indent="0" marL="0">
              <a:buNone/>
            </a:pPr>
            <a:r>
              <a:rPr lang="en-US" sz="1400" b="1" dirty="0">
                <a:solidFill>
                  <a:schemeClr val="tx2"/>
                </a:solidFill>
              </a:rPr>
              <a:t>Model development</a:t>
            </a:r>
            <a:endParaRPr lang="en-US" sz="1400" dirty="0"/>
          </a:p>
          <a:p>
            <a:pPr indent="0" marL="0">
              <a:buNone/>
            </a:pPr>
            <a:r>
              <a:rPr lang="en-US" sz="1200" dirty="0">
                <a:solidFill>
                  <a:schemeClr val="tx1"/>
                </a:solidFill>
              </a:rPr>
              <a:t>6 models compared</a:t>
            </a:r>
            <a:endParaRPr lang="en-US" sz="1400" dirty="0"/>
          </a:p>
        </p:txBody>
      </p:sp>
      <p:sp>
        <p:nvSpPr>
          <p:cNvPr id="31" name="Arrow 6"/>
          <p:cNvSpPr/>
          <p:nvPr/>
        </p:nvSpPr>
        <p:spPr>
          <a:xfrm>
            <a:off x="4446727" y="3410712"/>
            <a:ext cx="246888" cy="256032"/>
          </a:xfrm>
          <a:prstGeom prst="rightArrow">
            <a:avLst/>
          </a:prstGeom>
          <a:solidFill>
            <a:schemeClr val="accent2"/>
          </a:solidFill>
          <a:ln w="12700">
            <a:solidFill>
              <a:schemeClr val="accent2"/>
            </a:solidFill>
            <a:prstDash val="solid"/>
          </a:ln>
        </p:spPr>
      </p:sp>
      <p:sp>
        <p:nvSpPr>
          <p:cNvPr id="32" name="Step box 7"/>
          <p:cNvSpPr/>
          <p:nvPr/>
        </p:nvSpPr>
        <p:spPr>
          <a:xfrm>
            <a:off x="4723790" y="3017520"/>
            <a:ext cx="1828800" cy="1051560"/>
          </a:xfrm>
          <a:prstGeom prst="roundRect">
            <a:avLst>
              <a:gd name="adj" fmla="val 6957"/>
            </a:avLst>
          </a:prstGeom>
          <a:solidFill>
            <a:schemeClr val="bg2"/>
          </a:solidFill>
          <a:ln w="12700">
            <a:solidFill>
              <a:schemeClr val="accent3"/>
            </a:solidFill>
            <a:prstDash val="solid"/>
          </a:ln>
        </p:spPr>
      </p:sp>
      <p:sp>
        <p:nvSpPr>
          <p:cNvPr id="33" name="Step number 7"/>
          <p:cNvSpPr/>
          <p:nvPr/>
        </p:nvSpPr>
        <p:spPr>
          <a:xfrm>
            <a:off x="4815230" y="3108960"/>
            <a:ext cx="292608" cy="292608"/>
          </a:xfrm>
          <a:prstGeom prst="ellipse">
            <a:avLst/>
          </a:prstGeom>
          <a:solidFill>
            <a:schemeClr val="accent1"/>
          </a:solidFill>
          <a:ln w="12700">
            <a:solidFill>
              <a:schemeClr val="accent1"/>
            </a:solidFill>
            <a:prstDash val="solid"/>
          </a:ln>
        </p:spPr>
      </p:sp>
      <p:sp>
        <p:nvSpPr>
          <p:cNvPr id="34" name="Text 32"/>
          <p:cNvSpPr txBox="1"/>
          <p:nvPr/>
        </p:nvSpPr>
        <p:spPr>
          <a:xfrm>
            <a:off x="4815230" y="310896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5" name="Step text 7"/>
          <p:cNvSpPr txBox="1"/>
          <p:nvPr/>
        </p:nvSpPr>
        <p:spPr>
          <a:xfrm>
            <a:off x="4815230" y="3429000"/>
            <a:ext cx="1645920" cy="594360"/>
          </a:xfrm>
          <a:prstGeom prst="rect">
            <a:avLst/>
          </a:prstGeom>
          <a:noFill/>
          <a:ln/>
        </p:spPr>
        <p:txBody>
          <a:bodyPr wrap="square" lIns="0" tIns="0" rIns="0" bIns="0" rtlCol="0" anchor="t"/>
          <a:lstStyle/>
          <a:p>
            <a:pPr indent="0" marL="0">
              <a:buNone/>
            </a:pPr>
            <a:r>
              <a:rPr lang="en-US" sz="1400" b="1" dirty="0">
                <a:solidFill>
                  <a:schemeClr val="tx2"/>
                </a:solidFill>
              </a:rPr>
              <a:t>Evaluation</a:t>
            </a:r>
            <a:endParaRPr lang="en-US" sz="1400" dirty="0"/>
          </a:p>
          <a:p>
            <a:pPr indent="0" marL="0">
              <a:buNone/>
            </a:pPr>
            <a:r>
              <a:rPr lang="en-US" sz="1200" dirty="0">
                <a:solidFill>
                  <a:schemeClr val="tx1"/>
                </a:solidFill>
              </a:rPr>
              <a:t>Time split, 4 metrics</a:t>
            </a:r>
            <a:endParaRPr lang="en-US" sz="1400" dirty="0"/>
          </a:p>
        </p:txBody>
      </p:sp>
      <p:sp>
        <p:nvSpPr>
          <p:cNvPr id="36" name="Arrow 7"/>
          <p:cNvSpPr/>
          <p:nvPr/>
        </p:nvSpPr>
        <p:spPr>
          <a:xfrm>
            <a:off x="6580022" y="3410712"/>
            <a:ext cx="246888" cy="256032"/>
          </a:xfrm>
          <a:prstGeom prst="rightArrow">
            <a:avLst/>
          </a:prstGeom>
          <a:solidFill>
            <a:schemeClr val="accent2"/>
          </a:solidFill>
          <a:ln w="12700">
            <a:solidFill>
              <a:schemeClr val="accent2"/>
            </a:solidFill>
            <a:prstDash val="solid"/>
          </a:ln>
        </p:spPr>
      </p:sp>
      <p:sp>
        <p:nvSpPr>
          <p:cNvPr id="37" name="Step box 8"/>
          <p:cNvSpPr/>
          <p:nvPr/>
        </p:nvSpPr>
        <p:spPr>
          <a:xfrm>
            <a:off x="6857086" y="3017520"/>
            <a:ext cx="1828800" cy="1051560"/>
          </a:xfrm>
          <a:prstGeom prst="roundRect">
            <a:avLst>
              <a:gd name="adj" fmla="val 6957"/>
            </a:avLst>
          </a:prstGeom>
          <a:solidFill>
            <a:schemeClr val="bg2"/>
          </a:solidFill>
          <a:ln w="12700">
            <a:solidFill>
              <a:schemeClr val="accent3"/>
            </a:solidFill>
            <a:prstDash val="solid"/>
          </a:ln>
        </p:spPr>
      </p:sp>
      <p:sp>
        <p:nvSpPr>
          <p:cNvPr id="38" name="Step number 8"/>
          <p:cNvSpPr/>
          <p:nvPr/>
        </p:nvSpPr>
        <p:spPr>
          <a:xfrm>
            <a:off x="6948526" y="3108960"/>
            <a:ext cx="292608" cy="292608"/>
          </a:xfrm>
          <a:prstGeom prst="ellipse">
            <a:avLst/>
          </a:prstGeom>
          <a:solidFill>
            <a:schemeClr val="accent1"/>
          </a:solidFill>
          <a:ln w="12700">
            <a:solidFill>
              <a:schemeClr val="accent1"/>
            </a:solidFill>
            <a:prstDash val="solid"/>
          </a:ln>
        </p:spPr>
      </p:sp>
      <p:sp>
        <p:nvSpPr>
          <p:cNvPr id="39" name="Text 37"/>
          <p:cNvSpPr txBox="1"/>
          <p:nvPr/>
        </p:nvSpPr>
        <p:spPr>
          <a:xfrm>
            <a:off x="6948526" y="310896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0" name="Step text 8"/>
          <p:cNvSpPr txBox="1"/>
          <p:nvPr/>
        </p:nvSpPr>
        <p:spPr>
          <a:xfrm>
            <a:off x="6948526" y="3429000"/>
            <a:ext cx="1645920" cy="594360"/>
          </a:xfrm>
          <a:prstGeom prst="rect">
            <a:avLst/>
          </a:prstGeom>
          <a:noFill/>
          <a:ln/>
        </p:spPr>
        <p:txBody>
          <a:bodyPr wrap="square" lIns="0" tIns="0" rIns="0" bIns="0" rtlCol="0" anchor="t"/>
          <a:lstStyle/>
          <a:p>
            <a:pPr indent="0" marL="0">
              <a:buNone/>
            </a:pPr>
            <a:r>
              <a:rPr lang="en-US" sz="1400" b="1" dirty="0">
                <a:solidFill>
                  <a:schemeClr val="tx2"/>
                </a:solidFill>
              </a:rPr>
              <a:t>Interpretation</a:t>
            </a:r>
            <a:endParaRPr lang="en-US" sz="1400" dirty="0"/>
          </a:p>
          <a:p>
            <a:pPr indent="0" marL="0">
              <a:buNone/>
            </a:pPr>
            <a:r>
              <a:rPr lang="en-US" sz="1200" dirty="0">
                <a:solidFill>
                  <a:schemeClr val="tx1"/>
                </a:solidFill>
              </a:rPr>
              <a:t>Feature importance</a:t>
            </a:r>
            <a:endParaRPr lang="en-US" sz="1400" dirty="0"/>
          </a:p>
        </p:txBody>
      </p:sp>
      <p:sp>
        <p:nvSpPr>
          <p:cNvPr id="41" name="Connector down"/>
          <p:cNvSpPr/>
          <p:nvPr/>
        </p:nvSpPr>
        <p:spPr>
          <a:xfrm>
            <a:off x="7771486" y="2331720"/>
            <a:ext cx="0" cy="338328"/>
          </a:xfrm>
          <a:prstGeom prst="line">
            <a:avLst/>
          </a:prstGeom>
          <a:noFill/>
          <a:ln w="19050">
            <a:solidFill>
              <a:srgbClr val="0B2A5B"/>
            </a:solidFill>
            <a:prstDash val="solid"/>
          </a:ln>
        </p:spPr>
      </p:sp>
      <p:sp>
        <p:nvSpPr>
          <p:cNvPr id="42" name="Connector across"/>
          <p:cNvSpPr/>
          <p:nvPr/>
        </p:nvSpPr>
        <p:spPr>
          <a:xfrm>
            <a:off x="1371600" y="2670048"/>
            <a:ext cx="6399886" cy="0"/>
          </a:xfrm>
          <a:prstGeom prst="line">
            <a:avLst/>
          </a:prstGeom>
          <a:noFill/>
          <a:ln w="19050">
            <a:solidFill>
              <a:srgbClr val="0B2A5B"/>
            </a:solidFill>
            <a:prstDash val="solid"/>
          </a:ln>
        </p:spPr>
      </p:sp>
      <p:sp>
        <p:nvSpPr>
          <p:cNvPr id="43" name="Connector to row 2"/>
          <p:cNvSpPr/>
          <p:nvPr/>
        </p:nvSpPr>
        <p:spPr>
          <a:xfrm>
            <a:off x="1371600" y="2670048"/>
            <a:ext cx="0" cy="347472"/>
          </a:xfrm>
          <a:prstGeom prst="line">
            <a:avLst/>
          </a:prstGeom>
          <a:noFill/>
          <a:ln w="19050">
            <a:solidFill>
              <a:srgbClr val="0B2A5B"/>
            </a:solidFill>
            <a:prstDash val="solid"/>
            <a:tailEnd type="triangle"/>
          </a:ln>
        </p:spPr>
      </p:sp>
      <p:sp>
        <p:nvSpPr>
          <p:cNvPr id="44" name="Text 42"/>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400" dirty="0">
                <a:solidFill>
                  <a:schemeClr val="accent5"/>
                </a:solidFill>
              </a:rPr>
              <a:t>Each step prepares the data or results for the next one.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Feature Engineering and Models</a:t>
            </a:r>
            <a:endParaRPr lang="en-US" sz="3400" dirty="0"/>
          </a:p>
        </p:txBody>
      </p:sp>
      <p:sp>
        <p:nvSpPr>
          <p:cNvPr id="3" name="Features card"/>
          <p:cNvSpPr/>
          <p:nvPr/>
        </p:nvSpPr>
        <p:spPr>
          <a:xfrm>
            <a:off x="457200" y="1188720"/>
            <a:ext cx="4206240" cy="3291840"/>
          </a:xfrm>
          <a:prstGeom prst="roundRect">
            <a:avLst>
              <a:gd name="adj" fmla="val 2222"/>
            </a:avLst>
          </a:prstGeom>
          <a:solidFill>
            <a:schemeClr val="bg2"/>
          </a:solidFill>
          <a:ln w="9525">
            <a:solidFill>
              <a:schemeClr val="accent4"/>
            </a:solidFill>
            <a:prstDash val="solid"/>
          </a:ln>
        </p:spPr>
      </p:sp>
      <p:sp>
        <p:nvSpPr>
          <p:cNvPr id="4" name="Text 2"/>
          <p:cNvSpPr txBox="1"/>
          <p:nvPr/>
        </p:nvSpPr>
        <p:spPr>
          <a:xfrm>
            <a:off x="640080" y="1280160"/>
            <a:ext cx="3840480" cy="320040"/>
          </a:xfrm>
          <a:prstGeom prst="rect">
            <a:avLst/>
          </a:prstGeom>
          <a:noFill/>
          <a:ln/>
        </p:spPr>
        <p:txBody>
          <a:bodyPr wrap="square" lIns="0" tIns="0" rIns="0" bIns="0" rtlCol="0" anchor="t"/>
          <a:lstStyle/>
          <a:p>
            <a:pPr indent="0" marL="0">
              <a:buNone/>
            </a:pPr>
            <a:r>
              <a:rPr lang="en-US" sz="1600" b="1" dirty="0">
                <a:solidFill>
                  <a:schemeClr val="tx2"/>
                </a:solidFill>
              </a:rPr>
              <a:t>14 features (past data only)</a:t>
            </a:r>
            <a:endParaRPr lang="en-US" sz="1600" dirty="0"/>
          </a:p>
        </p:txBody>
      </p:sp>
      <p:sp>
        <p:nvSpPr>
          <p:cNvPr id="5" name="Feature list"/>
          <p:cNvSpPr txBox="1"/>
          <p:nvPr/>
        </p:nvSpPr>
        <p:spPr>
          <a:xfrm>
            <a:off x="640080" y="1691640"/>
            <a:ext cx="3840480" cy="2697480"/>
          </a:xfrm>
          <a:prstGeom prst="rect">
            <a:avLst/>
          </a:prstGeom>
          <a:noFill/>
          <a:ln/>
        </p:spPr>
        <p:txBody>
          <a:bodyPr wrap="square" lIns="0" tIns="0" rIns="0" bIns="0" rtlCol="0" anchor="t"/>
          <a:lstStyle/>
          <a:p>
            <a:pPr indent="0" marL="0">
              <a:spcAft>
                <a:spcPts val="500"/>
              </a:spcAft>
              <a:buNone/>
            </a:pPr>
            <a:r>
              <a:rPr lang="en-US" sz="1400" b="1" dirty="0">
                <a:solidFill>
                  <a:schemeClr val="accent2"/>
                </a:solidFill>
              </a:rPr>
              <a:t>Calendar (5)</a:t>
            </a:r>
            <a:endParaRPr lang="en-US" sz="1400" dirty="0"/>
          </a:p>
          <a:p>
            <a:pPr indent="0" marL="0">
              <a:spcAft>
                <a:spcPts val="500"/>
              </a:spcAft>
              <a:buNone/>
            </a:pPr>
            <a:r>
              <a:rPr lang="en-US" sz="1400" dirty="0">
                <a:solidFill>
                  <a:schemeClr val="tx1"/>
                </a:solidFill>
              </a:rPr>
              <a:t>Hour, day of week, day of month, month, weekend flag</a:t>
            </a:r>
            <a:endParaRPr lang="en-US" sz="1400" dirty="0"/>
          </a:p>
          <a:p>
            <a:pPr indent="0" marL="0">
              <a:spcAft>
                <a:spcPts val="500"/>
              </a:spcAft>
              <a:buNone/>
            </a:pPr>
            <a:r>
              <a:rPr lang="en-US" sz="1400" b="1" dirty="0">
                <a:solidFill>
                  <a:schemeClr val="accent2"/>
                </a:solidFill>
              </a:rPr>
              <a:t>Lag (6)</a:t>
            </a:r>
            <a:endParaRPr lang="en-US" sz="1400" dirty="0"/>
          </a:p>
          <a:p>
            <a:pPr indent="0" marL="0">
              <a:spcAft>
                <a:spcPts val="500"/>
              </a:spcAft>
              <a:buNone/>
            </a:pPr>
            <a:r>
              <a:rPr lang="en-US" sz="1400" dirty="0">
                <a:solidFill>
                  <a:schemeClr val="tx1"/>
                </a:solidFill>
              </a:rPr>
              <a:t>Usage 1, 2, 3, 24, 48 and 168 hours earlier</a:t>
            </a:r>
            <a:endParaRPr lang="en-US" sz="1400" dirty="0"/>
          </a:p>
          <a:p>
            <a:pPr indent="0" marL="0">
              <a:spcAft>
                <a:spcPts val="500"/>
              </a:spcAft>
              <a:buNone/>
            </a:pPr>
            <a:r>
              <a:rPr lang="en-US" sz="1400" b="1" dirty="0">
                <a:solidFill>
                  <a:schemeClr val="accent2"/>
                </a:solidFill>
              </a:rPr>
              <a:t>Rolling statistics (3)</a:t>
            </a:r>
            <a:endParaRPr lang="en-US" sz="1400" dirty="0"/>
          </a:p>
          <a:p>
            <a:pPr indent="0" marL="0">
              <a:spcAft>
                <a:spcPts val="500"/>
              </a:spcAft>
              <a:buNone/>
            </a:pPr>
            <a:r>
              <a:rPr lang="en-US" sz="1400" dirty="0">
                <a:solidFill>
                  <a:schemeClr val="tx1"/>
                </a:solidFill>
              </a:rPr>
              <a:t>Mean of last 3 h, mean and spread of last 24 h</a:t>
            </a:r>
            <a:endParaRPr lang="en-US" sz="1400" dirty="0"/>
          </a:p>
        </p:txBody>
      </p:sp>
      <p:sp>
        <p:nvSpPr>
          <p:cNvPr id="6" name="Text 4"/>
          <p:cNvSpPr txBox="1"/>
          <p:nvPr/>
        </p:nvSpPr>
        <p:spPr>
          <a:xfrm>
            <a:off x="4937760" y="1188720"/>
            <a:ext cx="3749040" cy="320040"/>
          </a:xfrm>
          <a:prstGeom prst="rect">
            <a:avLst/>
          </a:prstGeom>
          <a:noFill/>
          <a:ln/>
        </p:spPr>
        <p:txBody>
          <a:bodyPr wrap="square" lIns="0" tIns="0" rIns="0" bIns="0" rtlCol="0" anchor="t"/>
          <a:lstStyle/>
          <a:p>
            <a:pPr indent="0" marL="0">
              <a:buNone/>
            </a:pPr>
            <a:r>
              <a:rPr lang="en-US" sz="1600" b="1" dirty="0">
                <a:solidFill>
                  <a:schemeClr val="tx2"/>
                </a:solidFill>
              </a:rPr>
              <a:t>6 approaches compared</a:t>
            </a:r>
            <a:endParaRPr lang="en-US" sz="1600" dirty="0"/>
          </a:p>
        </p:txBody>
      </p:sp>
      <p:sp>
        <p:nvSpPr>
          <p:cNvPr id="7" name="Model chip 1"/>
          <p:cNvSpPr/>
          <p:nvPr/>
        </p:nvSpPr>
        <p:spPr>
          <a:xfrm>
            <a:off x="4937760" y="1645920"/>
            <a:ext cx="1828800" cy="731520"/>
          </a:xfrm>
          <a:prstGeom prst="roundRect">
            <a:avLst>
              <a:gd name="adj" fmla="val 10000"/>
            </a:avLst>
          </a:prstGeom>
          <a:solidFill>
            <a:schemeClr val="bg2"/>
          </a:solidFill>
          <a:ln w="12700">
            <a:solidFill>
              <a:schemeClr val="accent3"/>
            </a:solidFill>
            <a:prstDash val="solid"/>
          </a:ln>
        </p:spPr>
      </p:sp>
      <p:sp>
        <p:nvSpPr>
          <p:cNvPr id="8" name="Model name 1"/>
          <p:cNvSpPr txBox="1"/>
          <p:nvPr/>
        </p:nvSpPr>
        <p:spPr>
          <a:xfrm>
            <a:off x="5029200" y="164592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Baseline (training mean)</a:t>
            </a:r>
            <a:endParaRPr lang="en-US" sz="1400" dirty="0"/>
          </a:p>
        </p:txBody>
      </p:sp>
      <p:sp>
        <p:nvSpPr>
          <p:cNvPr id="9" name="Model chip 2"/>
          <p:cNvSpPr/>
          <p:nvPr/>
        </p:nvSpPr>
        <p:spPr>
          <a:xfrm>
            <a:off x="6858000" y="1645920"/>
            <a:ext cx="1828800" cy="731520"/>
          </a:xfrm>
          <a:prstGeom prst="roundRect">
            <a:avLst>
              <a:gd name="adj" fmla="val 10000"/>
            </a:avLst>
          </a:prstGeom>
          <a:solidFill>
            <a:schemeClr val="bg2"/>
          </a:solidFill>
          <a:ln w="12700">
            <a:solidFill>
              <a:schemeClr val="accent3"/>
            </a:solidFill>
            <a:prstDash val="solid"/>
          </a:ln>
        </p:spPr>
      </p:sp>
      <p:sp>
        <p:nvSpPr>
          <p:cNvPr id="10" name="Model name 2"/>
          <p:cNvSpPr txBox="1"/>
          <p:nvPr/>
        </p:nvSpPr>
        <p:spPr>
          <a:xfrm>
            <a:off x="6949440" y="164592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Linear Regression</a:t>
            </a:r>
            <a:endParaRPr lang="en-US" sz="1400" dirty="0"/>
          </a:p>
        </p:txBody>
      </p:sp>
      <p:sp>
        <p:nvSpPr>
          <p:cNvPr id="11" name="Model chip 3"/>
          <p:cNvSpPr/>
          <p:nvPr/>
        </p:nvSpPr>
        <p:spPr>
          <a:xfrm>
            <a:off x="4937760" y="2514600"/>
            <a:ext cx="1828800" cy="731520"/>
          </a:xfrm>
          <a:prstGeom prst="roundRect">
            <a:avLst>
              <a:gd name="adj" fmla="val 10000"/>
            </a:avLst>
          </a:prstGeom>
          <a:solidFill>
            <a:schemeClr val="bg2"/>
          </a:solidFill>
          <a:ln w="12700">
            <a:solidFill>
              <a:schemeClr val="accent3"/>
            </a:solidFill>
            <a:prstDash val="solid"/>
          </a:ln>
        </p:spPr>
      </p:sp>
      <p:sp>
        <p:nvSpPr>
          <p:cNvPr id="12" name="Model name 3"/>
          <p:cNvSpPr txBox="1"/>
          <p:nvPr/>
        </p:nvSpPr>
        <p:spPr>
          <a:xfrm>
            <a:off x="5029200" y="251460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Ridge Regression</a:t>
            </a:r>
            <a:endParaRPr lang="en-US" sz="1400" dirty="0"/>
          </a:p>
        </p:txBody>
      </p:sp>
      <p:sp>
        <p:nvSpPr>
          <p:cNvPr id="13" name="Model chip 4"/>
          <p:cNvSpPr/>
          <p:nvPr/>
        </p:nvSpPr>
        <p:spPr>
          <a:xfrm>
            <a:off x="6858000" y="2514600"/>
            <a:ext cx="1828800" cy="731520"/>
          </a:xfrm>
          <a:prstGeom prst="roundRect">
            <a:avLst>
              <a:gd name="adj" fmla="val 10000"/>
            </a:avLst>
          </a:prstGeom>
          <a:solidFill>
            <a:schemeClr val="bg2"/>
          </a:solidFill>
          <a:ln w="12700">
            <a:solidFill>
              <a:schemeClr val="accent3"/>
            </a:solidFill>
            <a:prstDash val="solid"/>
          </a:ln>
        </p:spPr>
      </p:sp>
      <p:sp>
        <p:nvSpPr>
          <p:cNvPr id="14" name="Model name 4"/>
          <p:cNvSpPr txBox="1"/>
          <p:nvPr/>
        </p:nvSpPr>
        <p:spPr>
          <a:xfrm>
            <a:off x="6949440" y="251460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Random Forest</a:t>
            </a:r>
            <a:endParaRPr lang="en-US" sz="1400" dirty="0"/>
          </a:p>
        </p:txBody>
      </p:sp>
      <p:sp>
        <p:nvSpPr>
          <p:cNvPr id="15" name="Model chip 5"/>
          <p:cNvSpPr/>
          <p:nvPr/>
        </p:nvSpPr>
        <p:spPr>
          <a:xfrm>
            <a:off x="4937760" y="3383280"/>
            <a:ext cx="1828800" cy="731520"/>
          </a:xfrm>
          <a:prstGeom prst="roundRect">
            <a:avLst>
              <a:gd name="adj" fmla="val 10000"/>
            </a:avLst>
          </a:prstGeom>
          <a:solidFill>
            <a:schemeClr val="bg2"/>
          </a:solidFill>
          <a:ln w="12700">
            <a:solidFill>
              <a:schemeClr val="accent3"/>
            </a:solidFill>
            <a:prstDash val="solid"/>
          </a:ln>
        </p:spPr>
      </p:sp>
      <p:sp>
        <p:nvSpPr>
          <p:cNvPr id="16" name="Model name 5"/>
          <p:cNvSpPr txBox="1"/>
          <p:nvPr/>
        </p:nvSpPr>
        <p:spPr>
          <a:xfrm>
            <a:off x="5029200" y="338328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Extra Trees</a:t>
            </a:r>
            <a:endParaRPr lang="en-US" sz="1400" dirty="0"/>
          </a:p>
        </p:txBody>
      </p:sp>
      <p:sp>
        <p:nvSpPr>
          <p:cNvPr id="17" name="Model chip 6"/>
          <p:cNvSpPr/>
          <p:nvPr/>
        </p:nvSpPr>
        <p:spPr>
          <a:xfrm>
            <a:off x="6858000" y="3383280"/>
            <a:ext cx="1828800" cy="731520"/>
          </a:xfrm>
          <a:prstGeom prst="roundRect">
            <a:avLst>
              <a:gd name="adj" fmla="val 10000"/>
            </a:avLst>
          </a:prstGeom>
          <a:solidFill>
            <a:schemeClr val="bg2"/>
          </a:solidFill>
          <a:ln w="12700">
            <a:solidFill>
              <a:schemeClr val="accent3"/>
            </a:solidFill>
            <a:prstDash val="solid"/>
          </a:ln>
        </p:spPr>
      </p:sp>
      <p:sp>
        <p:nvSpPr>
          <p:cNvPr id="18" name="Model name 6"/>
          <p:cNvSpPr txBox="1"/>
          <p:nvPr/>
        </p:nvSpPr>
        <p:spPr>
          <a:xfrm>
            <a:off x="6949440" y="3383280"/>
            <a:ext cx="1645920" cy="731520"/>
          </a:xfrm>
          <a:prstGeom prst="rect">
            <a:avLst/>
          </a:prstGeom>
          <a:noFill/>
          <a:ln/>
        </p:spPr>
        <p:txBody>
          <a:bodyPr wrap="square" lIns="0" tIns="0" rIns="0" bIns="0" rtlCol="0" anchor="ctr"/>
          <a:lstStyle/>
          <a:p>
            <a:pPr algn="ctr" indent="0" marL="0">
              <a:buNone/>
            </a:pPr>
            <a:r>
              <a:rPr lang="en-US" sz="1400" b="1" dirty="0">
                <a:solidFill>
                  <a:schemeClr val="tx2"/>
                </a:solidFill>
              </a:rPr>
              <a:t>Hist Gradient Boosting</a:t>
            </a:r>
            <a:endParaRPr lang="en-US" sz="1400" dirty="0"/>
          </a:p>
        </p:txBody>
      </p:sp>
      <p:sp>
        <p:nvSpPr>
          <p:cNvPr id="19" name="Text 17"/>
          <p:cNvSpPr txBox="1"/>
          <p:nvPr/>
        </p:nvSpPr>
        <p:spPr>
          <a:xfrm>
            <a:off x="4937760" y="4297680"/>
            <a:ext cx="3749040" cy="365760"/>
          </a:xfrm>
          <a:prstGeom prst="rect">
            <a:avLst/>
          </a:prstGeom>
          <a:noFill/>
          <a:ln/>
        </p:spPr>
        <p:txBody>
          <a:bodyPr wrap="square" lIns="0" tIns="0" rIns="0" bIns="0" rtlCol="0" anchor="t"/>
          <a:lstStyle/>
          <a:p>
            <a:pPr indent="0" marL="0">
              <a:buNone/>
            </a:pPr>
            <a:r>
              <a:rPr lang="en-US" sz="1200" dirty="0">
                <a:solidFill>
                  <a:schemeClr val="accent5"/>
                </a:solidFill>
              </a:rPr>
              <a:t>All models use the same features and the same training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Evaluation Method</a:t>
            </a:r>
            <a:endParaRPr lang="en-US" sz="3400" dirty="0"/>
          </a:p>
        </p:txBody>
      </p:sp>
      <p:sp>
        <p:nvSpPr>
          <p:cNvPr id="3" name="Split Training"/>
          <p:cNvSpPr/>
          <p:nvPr/>
        </p:nvSpPr>
        <p:spPr>
          <a:xfrm>
            <a:off x="457200" y="1188720"/>
            <a:ext cx="5724144" cy="685800"/>
          </a:xfrm>
          <a:prstGeom prst="rect">
            <a:avLst/>
          </a:prstGeom>
          <a:solidFill>
            <a:schemeClr val="accent1"/>
          </a:solidFill>
          <a:ln w="12700">
            <a:solidFill>
              <a:schemeClr val="accent1"/>
            </a:solidFill>
            <a:prstDash val="solid"/>
          </a:ln>
        </p:spPr>
      </p:sp>
      <p:sp>
        <p:nvSpPr>
          <p:cNvPr id="4" name="Split label Training"/>
          <p:cNvSpPr txBox="1"/>
          <p:nvPr/>
        </p:nvSpPr>
        <p:spPr>
          <a:xfrm>
            <a:off x="457200" y="1188720"/>
            <a:ext cx="5724144" cy="685800"/>
          </a:xfrm>
          <a:prstGeom prst="rect">
            <a:avLst/>
          </a:prstGeom>
          <a:noFill/>
          <a:ln/>
        </p:spPr>
        <p:txBody>
          <a:bodyPr wrap="square" lIns="0" tIns="0" rIns="0" bIns="0" rtlCol="0" anchor="ctr"/>
          <a:lstStyle/>
          <a:p>
            <a:pPr algn="ctr" indent="0" marL="0">
              <a:buNone/>
            </a:pPr>
            <a:r>
              <a:rPr lang="en-US" sz="1400" b="1" dirty="0">
                <a:solidFill>
                  <a:schemeClr val="bg1"/>
                </a:solidFill>
              </a:rPr>
              <a:t>Training</a:t>
            </a:r>
            <a:endParaRPr lang="en-US" sz="1400" dirty="0"/>
          </a:p>
          <a:p>
            <a:pPr algn="ctr" indent="0" marL="0">
              <a:buNone/>
            </a:pPr>
            <a:r>
              <a:rPr lang="en-US" sz="1400" dirty="0">
                <a:solidFill>
                  <a:schemeClr val="bg1"/>
                </a:solidFill>
              </a:rPr>
              <a:t>70%</a:t>
            </a:r>
            <a:endParaRPr lang="en-US" sz="1400" dirty="0"/>
          </a:p>
        </p:txBody>
      </p:sp>
      <p:sp>
        <p:nvSpPr>
          <p:cNvPr id="5" name="Split Validation"/>
          <p:cNvSpPr/>
          <p:nvPr/>
        </p:nvSpPr>
        <p:spPr>
          <a:xfrm>
            <a:off x="6217920" y="1188720"/>
            <a:ext cx="1197864" cy="685800"/>
          </a:xfrm>
          <a:prstGeom prst="rect">
            <a:avLst/>
          </a:prstGeom>
          <a:solidFill>
            <a:schemeClr val="accent2"/>
          </a:solidFill>
          <a:ln w="12700">
            <a:solidFill>
              <a:schemeClr val="accent2"/>
            </a:solidFill>
            <a:prstDash val="solid"/>
          </a:ln>
        </p:spPr>
      </p:sp>
      <p:sp>
        <p:nvSpPr>
          <p:cNvPr id="6" name="Split label Validation"/>
          <p:cNvSpPr txBox="1"/>
          <p:nvPr/>
        </p:nvSpPr>
        <p:spPr>
          <a:xfrm>
            <a:off x="6217920" y="1188720"/>
            <a:ext cx="1197864" cy="685800"/>
          </a:xfrm>
          <a:prstGeom prst="rect">
            <a:avLst/>
          </a:prstGeom>
          <a:noFill/>
          <a:ln/>
        </p:spPr>
        <p:txBody>
          <a:bodyPr wrap="square" lIns="0" tIns="0" rIns="0" bIns="0" rtlCol="0" anchor="ctr"/>
          <a:lstStyle/>
          <a:p>
            <a:pPr algn="ctr" indent="0" marL="0">
              <a:buNone/>
            </a:pPr>
            <a:r>
              <a:rPr lang="en-US" sz="1400" b="1" dirty="0">
                <a:solidFill>
                  <a:schemeClr val="bg1"/>
                </a:solidFill>
              </a:rPr>
              <a:t>Validation</a:t>
            </a:r>
            <a:endParaRPr lang="en-US" sz="1400" dirty="0"/>
          </a:p>
          <a:p>
            <a:pPr algn="ctr" indent="0" marL="0">
              <a:buNone/>
            </a:pPr>
            <a:r>
              <a:rPr lang="en-US" sz="1400" dirty="0">
                <a:solidFill>
                  <a:schemeClr val="bg1"/>
                </a:solidFill>
              </a:rPr>
              <a:t>15%</a:t>
            </a:r>
            <a:endParaRPr lang="en-US" sz="1400" dirty="0"/>
          </a:p>
        </p:txBody>
      </p:sp>
      <p:sp>
        <p:nvSpPr>
          <p:cNvPr id="7" name="Split Test"/>
          <p:cNvSpPr/>
          <p:nvPr/>
        </p:nvSpPr>
        <p:spPr>
          <a:xfrm>
            <a:off x="7452360" y="1188720"/>
            <a:ext cx="1197864" cy="685800"/>
          </a:xfrm>
          <a:prstGeom prst="rect">
            <a:avLst/>
          </a:prstGeom>
          <a:solidFill>
            <a:schemeClr val="accent3"/>
          </a:solidFill>
          <a:ln w="12700">
            <a:solidFill>
              <a:schemeClr val="accent3"/>
            </a:solidFill>
            <a:prstDash val="solid"/>
          </a:ln>
        </p:spPr>
      </p:sp>
      <p:sp>
        <p:nvSpPr>
          <p:cNvPr id="8" name="Split label Test"/>
          <p:cNvSpPr txBox="1"/>
          <p:nvPr/>
        </p:nvSpPr>
        <p:spPr>
          <a:xfrm>
            <a:off x="7452360" y="1188720"/>
            <a:ext cx="1197864" cy="685800"/>
          </a:xfrm>
          <a:prstGeom prst="rect">
            <a:avLst/>
          </a:prstGeom>
          <a:noFill/>
          <a:ln/>
        </p:spPr>
        <p:txBody>
          <a:bodyPr wrap="square" lIns="0" tIns="0" rIns="0" bIns="0" rtlCol="0" anchor="ctr"/>
          <a:lstStyle/>
          <a:p>
            <a:pPr algn="ctr" indent="0" marL="0">
              <a:buNone/>
            </a:pPr>
            <a:r>
              <a:rPr lang="en-US" sz="1400" b="1" dirty="0">
                <a:solidFill>
                  <a:schemeClr val="tx1"/>
                </a:solidFill>
              </a:rPr>
              <a:t>Test</a:t>
            </a:r>
            <a:endParaRPr lang="en-US" sz="1400" dirty="0"/>
          </a:p>
          <a:p>
            <a:pPr algn="ctr" indent="0" marL="0">
              <a:buNone/>
            </a:pPr>
            <a:r>
              <a:rPr lang="en-US" sz="1400" dirty="0">
                <a:solidFill>
                  <a:schemeClr val="tx1"/>
                </a:solidFill>
              </a:rPr>
              <a:t>15%</a:t>
            </a:r>
            <a:endParaRPr lang="en-US" sz="1400" dirty="0"/>
          </a:p>
        </p:txBody>
      </p:sp>
      <p:sp>
        <p:nvSpPr>
          <p:cNvPr id="9" name="Text 7"/>
          <p:cNvSpPr txBox="1"/>
          <p:nvPr/>
        </p:nvSpPr>
        <p:spPr>
          <a:xfrm>
            <a:off x="457200" y="1938528"/>
            <a:ext cx="5669280" cy="502920"/>
          </a:xfrm>
          <a:prstGeom prst="rect">
            <a:avLst/>
          </a:prstGeom>
          <a:noFill/>
          <a:ln/>
        </p:spPr>
        <p:txBody>
          <a:bodyPr wrap="square" lIns="0" tIns="0" rIns="0" bIns="0" rtlCol="0" anchor="t"/>
          <a:lstStyle/>
          <a:p>
            <a:pPr algn="ctr" indent="0" marL="0">
              <a:buNone/>
            </a:pPr>
            <a:r>
              <a:rPr lang="en-US" sz="1200" dirty="0">
                <a:solidFill>
                  <a:schemeClr val="accent5"/>
                </a:solidFill>
              </a:rPr>
              <a:t>23,799 rows</a:t>
            </a:r>
            <a:endParaRPr lang="en-US" sz="1200" dirty="0"/>
          </a:p>
          <a:p>
            <a:pPr algn="ctr" indent="0" marL="0">
              <a:buNone/>
            </a:pPr>
            <a:r>
              <a:rPr lang="en-US" sz="1200" dirty="0">
                <a:solidFill>
                  <a:schemeClr val="accent5"/>
                </a:solidFill>
              </a:rPr>
              <a:t>Dec 2006 to Sep 2009</a:t>
            </a:r>
            <a:endParaRPr lang="en-US" sz="1200" dirty="0"/>
          </a:p>
        </p:txBody>
      </p:sp>
      <p:sp>
        <p:nvSpPr>
          <p:cNvPr id="10" name="Text 8"/>
          <p:cNvSpPr txBox="1"/>
          <p:nvPr/>
        </p:nvSpPr>
        <p:spPr>
          <a:xfrm>
            <a:off x="6217920" y="1938528"/>
            <a:ext cx="1197864" cy="594360"/>
          </a:xfrm>
          <a:prstGeom prst="rect">
            <a:avLst/>
          </a:prstGeom>
          <a:noFill/>
          <a:ln/>
        </p:spPr>
        <p:txBody>
          <a:bodyPr wrap="square" lIns="0" tIns="0" rIns="0" bIns="0" rtlCol="0" anchor="t"/>
          <a:lstStyle/>
          <a:p>
            <a:pPr algn="ctr" indent="0" marL="0">
              <a:buNone/>
            </a:pPr>
            <a:r>
              <a:rPr lang="en-US" sz="1200" dirty="0">
                <a:solidFill>
                  <a:schemeClr val="accent5"/>
                </a:solidFill>
              </a:rPr>
              <a:t>5,100 rows</a:t>
            </a:r>
            <a:endParaRPr lang="en-US" sz="1200" dirty="0"/>
          </a:p>
          <a:p>
            <a:pPr algn="ctr" indent="0" marL="0">
              <a:buNone/>
            </a:pPr>
            <a:r>
              <a:rPr lang="en-US" sz="1200" dirty="0">
                <a:solidFill>
                  <a:schemeClr val="accent5"/>
                </a:solidFill>
              </a:rPr>
              <a:t>Sep 2009 to</a:t>
            </a:r>
            <a:endParaRPr lang="en-US" sz="1200" dirty="0"/>
          </a:p>
          <a:p>
            <a:pPr algn="ctr" indent="0" marL="0">
              <a:buNone/>
            </a:pPr>
            <a:r>
              <a:rPr lang="en-US" sz="1200" dirty="0">
                <a:solidFill>
                  <a:schemeClr val="accent5"/>
                </a:solidFill>
              </a:rPr>
              <a:t>Apr 2010</a:t>
            </a:r>
            <a:endParaRPr lang="en-US" sz="1200" dirty="0"/>
          </a:p>
        </p:txBody>
      </p:sp>
      <p:sp>
        <p:nvSpPr>
          <p:cNvPr id="11" name="Text 9"/>
          <p:cNvSpPr txBox="1"/>
          <p:nvPr/>
        </p:nvSpPr>
        <p:spPr>
          <a:xfrm>
            <a:off x="7452360" y="1938528"/>
            <a:ext cx="1197864" cy="594360"/>
          </a:xfrm>
          <a:prstGeom prst="rect">
            <a:avLst/>
          </a:prstGeom>
          <a:noFill/>
          <a:ln/>
        </p:spPr>
        <p:txBody>
          <a:bodyPr wrap="square" lIns="0" tIns="0" rIns="0" bIns="0" rtlCol="0" anchor="t"/>
          <a:lstStyle/>
          <a:p>
            <a:pPr algn="ctr" indent="0" marL="0">
              <a:buNone/>
            </a:pPr>
            <a:r>
              <a:rPr lang="en-US" sz="1200" dirty="0">
                <a:solidFill>
                  <a:schemeClr val="accent5"/>
                </a:solidFill>
              </a:rPr>
              <a:t>5,100 rows</a:t>
            </a:r>
            <a:endParaRPr lang="en-US" sz="1200" dirty="0"/>
          </a:p>
          <a:p>
            <a:pPr algn="ctr" indent="0" marL="0">
              <a:buNone/>
            </a:pPr>
            <a:r>
              <a:rPr lang="en-US" sz="1200" dirty="0">
                <a:solidFill>
                  <a:schemeClr val="accent5"/>
                </a:solidFill>
              </a:rPr>
              <a:t>Apr 2010 to</a:t>
            </a:r>
            <a:endParaRPr lang="en-US" sz="1200" dirty="0"/>
          </a:p>
          <a:p>
            <a:pPr algn="ctr" indent="0" marL="0">
              <a:buNone/>
            </a:pPr>
            <a:r>
              <a:rPr lang="en-US" sz="1200" dirty="0">
                <a:solidFill>
                  <a:schemeClr val="accent5"/>
                </a:solidFill>
              </a:rPr>
              <a:t>Nov 2010</a:t>
            </a:r>
            <a:endParaRPr lang="en-US" sz="1200" dirty="0"/>
          </a:p>
        </p:txBody>
      </p:sp>
      <p:sp>
        <p:nvSpPr>
          <p:cNvPr id="12" name="Text 10"/>
          <p:cNvSpPr txBox="1"/>
          <p:nvPr/>
        </p:nvSpPr>
        <p:spPr>
          <a:xfrm>
            <a:off x="457200" y="2651760"/>
            <a:ext cx="8229600" cy="457200"/>
          </a:xfrm>
          <a:prstGeom prst="rect">
            <a:avLst/>
          </a:prstGeom>
          <a:noFill/>
          <a:ln/>
        </p:spPr>
        <p:txBody>
          <a:bodyPr wrap="square" lIns="0" tIns="0" rIns="0" bIns="0" rtlCol="0" anchor="t"/>
          <a:lstStyle/>
          <a:p>
            <a:pPr indent="0" marL="0">
              <a:buNone/>
            </a:pPr>
            <a:r>
              <a:rPr lang="en-US" sz="1400" b="1" dirty="0">
                <a:solidFill>
                  <a:schemeClr val="tx2"/>
                </a:solidFill>
              </a:rPr>
              <a:t>Time order is kept: train on the past, test on the future. Validation picks the model; the test set is used once.</a:t>
            </a:r>
            <a:endParaRPr lang="en-US" sz="1400" dirty="0"/>
          </a:p>
        </p:txBody>
      </p:sp>
      <p:sp>
        <p:nvSpPr>
          <p:cNvPr id="13" name="Metric card 1"/>
          <p:cNvSpPr/>
          <p:nvPr/>
        </p:nvSpPr>
        <p:spPr>
          <a:xfrm>
            <a:off x="457200" y="3200400"/>
            <a:ext cx="1920240" cy="1417320"/>
          </a:xfrm>
          <a:prstGeom prst="roundRect">
            <a:avLst>
              <a:gd name="adj" fmla="val 5161"/>
            </a:avLst>
          </a:prstGeom>
          <a:solidFill>
            <a:schemeClr val="bg2"/>
          </a:solidFill>
          <a:ln w="9525">
            <a:solidFill>
              <a:schemeClr val="accent4"/>
            </a:solidFill>
            <a:prstDash val="solid"/>
          </a:ln>
        </p:spPr>
      </p:sp>
      <p:sp>
        <p:nvSpPr>
          <p:cNvPr id="14" name="Text 12"/>
          <p:cNvSpPr txBox="1"/>
          <p:nvPr/>
        </p:nvSpPr>
        <p:spPr>
          <a:xfrm>
            <a:off x="594360" y="3291840"/>
            <a:ext cx="1645920" cy="365760"/>
          </a:xfrm>
          <a:prstGeom prst="rect">
            <a:avLst/>
          </a:prstGeom>
          <a:noFill/>
          <a:ln/>
        </p:spPr>
        <p:txBody>
          <a:bodyPr wrap="square" lIns="0" tIns="0" rIns="0" bIns="0" rtlCol="0" anchor="t"/>
          <a:lstStyle/>
          <a:p>
            <a:pPr indent="0" marL="0">
              <a:buNone/>
            </a:pPr>
            <a:r>
              <a:rPr lang="en-US" sz="2000" b="1" dirty="0">
                <a:solidFill>
                  <a:schemeClr val="tx2"/>
                </a:solidFill>
              </a:rPr>
              <a:t>MAE</a:t>
            </a:r>
            <a:endParaRPr lang="en-US" sz="2000" dirty="0"/>
          </a:p>
        </p:txBody>
      </p:sp>
      <p:sp>
        <p:nvSpPr>
          <p:cNvPr id="15" name="Text 13"/>
          <p:cNvSpPr txBox="1"/>
          <p:nvPr/>
        </p:nvSpPr>
        <p:spPr>
          <a:xfrm>
            <a:off x="594360" y="3703320"/>
            <a:ext cx="1645920" cy="868680"/>
          </a:xfrm>
          <a:prstGeom prst="rect">
            <a:avLst/>
          </a:prstGeom>
          <a:noFill/>
          <a:ln/>
        </p:spPr>
        <p:txBody>
          <a:bodyPr wrap="square" lIns="0" tIns="0" rIns="0" bIns="0" rtlCol="0" anchor="t"/>
          <a:lstStyle/>
          <a:p>
            <a:pPr indent="0" marL="0">
              <a:buNone/>
            </a:pPr>
            <a:r>
              <a:rPr lang="en-US" sz="1300" dirty="0">
                <a:solidFill>
                  <a:schemeClr val="tx1"/>
                </a:solidFill>
              </a:rPr>
              <a:t>Average size of the error (kW)</a:t>
            </a:r>
            <a:endParaRPr lang="en-US" sz="1300" dirty="0"/>
          </a:p>
        </p:txBody>
      </p:sp>
      <p:sp>
        <p:nvSpPr>
          <p:cNvPr id="16" name="Metric card 2"/>
          <p:cNvSpPr/>
          <p:nvPr/>
        </p:nvSpPr>
        <p:spPr>
          <a:xfrm>
            <a:off x="2560320" y="3200400"/>
            <a:ext cx="1920240" cy="1417320"/>
          </a:xfrm>
          <a:prstGeom prst="roundRect">
            <a:avLst>
              <a:gd name="adj" fmla="val 5161"/>
            </a:avLst>
          </a:prstGeom>
          <a:solidFill>
            <a:schemeClr val="bg2"/>
          </a:solidFill>
          <a:ln w="9525">
            <a:solidFill>
              <a:schemeClr val="accent4"/>
            </a:solidFill>
            <a:prstDash val="solid"/>
          </a:ln>
        </p:spPr>
      </p:sp>
      <p:sp>
        <p:nvSpPr>
          <p:cNvPr id="17" name="Text 15"/>
          <p:cNvSpPr txBox="1"/>
          <p:nvPr/>
        </p:nvSpPr>
        <p:spPr>
          <a:xfrm>
            <a:off x="2697480" y="3291840"/>
            <a:ext cx="1645920" cy="365760"/>
          </a:xfrm>
          <a:prstGeom prst="rect">
            <a:avLst/>
          </a:prstGeom>
          <a:noFill/>
          <a:ln/>
        </p:spPr>
        <p:txBody>
          <a:bodyPr wrap="square" lIns="0" tIns="0" rIns="0" bIns="0" rtlCol="0" anchor="t"/>
          <a:lstStyle/>
          <a:p>
            <a:pPr indent="0" marL="0">
              <a:buNone/>
            </a:pPr>
            <a:r>
              <a:rPr lang="en-US" sz="2000" b="1" dirty="0">
                <a:solidFill>
                  <a:schemeClr val="tx2"/>
                </a:solidFill>
              </a:rPr>
              <a:t>RMSE</a:t>
            </a:r>
            <a:endParaRPr lang="en-US" sz="2000" dirty="0"/>
          </a:p>
        </p:txBody>
      </p:sp>
      <p:sp>
        <p:nvSpPr>
          <p:cNvPr id="18" name="Text 16"/>
          <p:cNvSpPr txBox="1"/>
          <p:nvPr/>
        </p:nvSpPr>
        <p:spPr>
          <a:xfrm>
            <a:off x="2697480" y="3703320"/>
            <a:ext cx="1645920" cy="868680"/>
          </a:xfrm>
          <a:prstGeom prst="rect">
            <a:avLst/>
          </a:prstGeom>
          <a:noFill/>
          <a:ln/>
        </p:spPr>
        <p:txBody>
          <a:bodyPr wrap="square" lIns="0" tIns="0" rIns="0" bIns="0" rtlCol="0" anchor="t"/>
          <a:lstStyle/>
          <a:p>
            <a:pPr indent="0" marL="0">
              <a:buNone/>
            </a:pPr>
            <a:r>
              <a:rPr lang="en-US" sz="1300" dirty="0">
                <a:solidFill>
                  <a:schemeClr val="tx1"/>
                </a:solidFill>
              </a:rPr>
              <a:t>Like MAE, but big errors count more</a:t>
            </a:r>
            <a:endParaRPr lang="en-US" sz="1300" dirty="0"/>
          </a:p>
        </p:txBody>
      </p:sp>
      <p:sp>
        <p:nvSpPr>
          <p:cNvPr id="19" name="Metric card 3"/>
          <p:cNvSpPr/>
          <p:nvPr/>
        </p:nvSpPr>
        <p:spPr>
          <a:xfrm>
            <a:off x="4663440" y="3200400"/>
            <a:ext cx="1920240" cy="1417320"/>
          </a:xfrm>
          <a:prstGeom prst="roundRect">
            <a:avLst>
              <a:gd name="adj" fmla="val 5161"/>
            </a:avLst>
          </a:prstGeom>
          <a:solidFill>
            <a:schemeClr val="bg2"/>
          </a:solidFill>
          <a:ln w="9525">
            <a:solidFill>
              <a:schemeClr val="accent4"/>
            </a:solidFill>
            <a:prstDash val="solid"/>
          </a:ln>
        </p:spPr>
      </p:sp>
      <p:sp>
        <p:nvSpPr>
          <p:cNvPr id="20" name="Text 18"/>
          <p:cNvSpPr txBox="1"/>
          <p:nvPr/>
        </p:nvSpPr>
        <p:spPr>
          <a:xfrm>
            <a:off x="4800600" y="3291840"/>
            <a:ext cx="1645920" cy="365760"/>
          </a:xfrm>
          <a:prstGeom prst="rect">
            <a:avLst/>
          </a:prstGeom>
          <a:noFill/>
          <a:ln/>
        </p:spPr>
        <p:txBody>
          <a:bodyPr wrap="square" lIns="0" tIns="0" rIns="0" bIns="0" rtlCol="0" anchor="t"/>
          <a:lstStyle/>
          <a:p>
            <a:pPr indent="0" marL="0">
              <a:buNone/>
            </a:pPr>
            <a:r>
              <a:rPr lang="en-US" sz="2000" b="1" dirty="0">
                <a:solidFill>
                  <a:schemeClr val="tx2"/>
                </a:solidFill>
              </a:rPr>
              <a:t>MAPE</a:t>
            </a:r>
            <a:endParaRPr lang="en-US" sz="2000" dirty="0"/>
          </a:p>
        </p:txBody>
      </p:sp>
      <p:sp>
        <p:nvSpPr>
          <p:cNvPr id="21" name="Text 19"/>
          <p:cNvSpPr txBox="1"/>
          <p:nvPr/>
        </p:nvSpPr>
        <p:spPr>
          <a:xfrm>
            <a:off x="4800600" y="3703320"/>
            <a:ext cx="1645920" cy="868680"/>
          </a:xfrm>
          <a:prstGeom prst="rect">
            <a:avLst/>
          </a:prstGeom>
          <a:noFill/>
          <a:ln/>
        </p:spPr>
        <p:txBody>
          <a:bodyPr wrap="square" lIns="0" tIns="0" rIns="0" bIns="0" rtlCol="0" anchor="t"/>
          <a:lstStyle/>
          <a:p>
            <a:pPr indent="0" marL="0">
              <a:buNone/>
            </a:pPr>
            <a:r>
              <a:rPr lang="en-US" sz="1300" dirty="0">
                <a:solidFill>
                  <a:schemeClr val="tx1"/>
                </a:solidFill>
              </a:rPr>
              <a:t>Error as a % of the actual value (actual above 0.05 kW)</a:t>
            </a:r>
            <a:endParaRPr lang="en-US" sz="1300" dirty="0"/>
          </a:p>
        </p:txBody>
      </p:sp>
      <p:sp>
        <p:nvSpPr>
          <p:cNvPr id="22" name="Metric card 4"/>
          <p:cNvSpPr/>
          <p:nvPr/>
        </p:nvSpPr>
        <p:spPr>
          <a:xfrm>
            <a:off x="6766560" y="3200400"/>
            <a:ext cx="1920240" cy="1417320"/>
          </a:xfrm>
          <a:prstGeom prst="roundRect">
            <a:avLst>
              <a:gd name="adj" fmla="val 5161"/>
            </a:avLst>
          </a:prstGeom>
          <a:solidFill>
            <a:schemeClr val="bg2"/>
          </a:solidFill>
          <a:ln w="9525">
            <a:solidFill>
              <a:schemeClr val="accent4"/>
            </a:solidFill>
            <a:prstDash val="solid"/>
          </a:ln>
        </p:spPr>
      </p:sp>
      <p:sp>
        <p:nvSpPr>
          <p:cNvPr id="23" name="Text 21"/>
          <p:cNvSpPr txBox="1"/>
          <p:nvPr/>
        </p:nvSpPr>
        <p:spPr>
          <a:xfrm>
            <a:off x="6903720" y="3291840"/>
            <a:ext cx="1645920" cy="365760"/>
          </a:xfrm>
          <a:prstGeom prst="rect">
            <a:avLst/>
          </a:prstGeom>
          <a:noFill/>
          <a:ln/>
        </p:spPr>
        <p:txBody>
          <a:bodyPr wrap="square" lIns="0" tIns="0" rIns="0" bIns="0" rtlCol="0" anchor="t"/>
          <a:lstStyle/>
          <a:p>
            <a:pPr indent="0" marL="0">
              <a:buNone/>
            </a:pPr>
            <a:r>
              <a:rPr lang="en-US" sz="2000" b="1" dirty="0">
                <a:solidFill>
                  <a:schemeClr val="tx2"/>
                </a:solidFill>
              </a:rPr>
              <a:t>R²</a:t>
            </a:r>
            <a:endParaRPr lang="en-US" sz="2000" dirty="0"/>
          </a:p>
        </p:txBody>
      </p:sp>
      <p:sp>
        <p:nvSpPr>
          <p:cNvPr id="24" name="Text 22"/>
          <p:cNvSpPr txBox="1"/>
          <p:nvPr/>
        </p:nvSpPr>
        <p:spPr>
          <a:xfrm>
            <a:off x="6903720" y="3703320"/>
            <a:ext cx="1645920" cy="868680"/>
          </a:xfrm>
          <a:prstGeom prst="rect">
            <a:avLst/>
          </a:prstGeom>
          <a:noFill/>
          <a:ln/>
        </p:spPr>
        <p:txBody>
          <a:bodyPr wrap="square" lIns="0" tIns="0" rIns="0" bIns="0" rtlCol="0" anchor="t"/>
          <a:lstStyle/>
          <a:p>
            <a:pPr indent="0" marL="0">
              <a:buNone/>
            </a:pPr>
            <a:r>
              <a:rPr lang="en-US" sz="1300" dirty="0">
                <a:solidFill>
                  <a:schemeClr val="tx1"/>
                </a:solidFill>
              </a:rPr>
              <a:t>Share of the ups and downs the model explains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Results and Discussion</a:t>
            </a:r>
            <a:endParaRPr lang="en-US" sz="3400" dirty="0"/>
          </a:p>
        </p:txBody>
      </p:sp>
      <p:sp>
        <p:nvSpPr>
          <p:cNvPr id="3" name="Text 1"/>
          <p:cNvSpPr txBox="1"/>
          <p:nvPr/>
        </p:nvSpPr>
        <p:spPr>
          <a:xfrm>
            <a:off x="457200" y="1005840"/>
            <a:ext cx="8229600" cy="274320"/>
          </a:xfrm>
          <a:prstGeom prst="rect">
            <a:avLst/>
          </a:prstGeom>
          <a:noFill/>
          <a:ln/>
        </p:spPr>
        <p:txBody>
          <a:bodyPr wrap="square" lIns="0" tIns="0" rIns="0" bIns="0" rtlCol="0" anchor="t"/>
          <a:lstStyle/>
          <a:p>
            <a:pPr indent="0" marL="0">
              <a:buNone/>
            </a:pPr>
            <a:r>
              <a:rPr lang="en-US" sz="1600" b="1" dirty="0">
                <a:solidFill>
                  <a:schemeClr val="accent2"/>
                </a:solidFill>
              </a:rPr>
              <a:t>Selected model: Hist Gradient Boosting (lowest validation RMSE)</a:t>
            </a:r>
            <a:endParaRPr lang="en-US" sz="1600" dirty="0"/>
          </a:p>
        </p:txBody>
      </p:sp>
      <p:graphicFrame>
        <p:nvGraphicFramePr>
          <p:cNvPr id="4" name="Chart 0" descr=""/>
          <p:cNvGraphicFramePr/>
          <p:nvPr/>
        </p:nvGraphicFramePr>
        <p:xfrm>
          <a:off x="457200" y="1371600"/>
          <a:ext cx="4663440" cy="2194560"/>
        </p:xfrm>
        <a:graphic xmlns:a="http://schemas.openxmlformats.org/drawingml/2006/main">
          <a:graphicData uri="http://schemas.openxmlformats.org/drawingml/2006/chart">
            <c:chart xmlns:c="http://schemas.openxmlformats.org/drawingml/2006/chart" r:id="rId1"/>
          </a:graphicData>
        </a:graphic>
      </p:graphicFrame>
      <p:pic>
        <p:nvPicPr>
          <p:cNvPr id="5" name="Actual vs predicted plot" descr="Scatter plot of actual versus predicted next-hour power on the test set">    </p:cNvPr>
          <p:cNvPicPr>
            <a:picLocks noChangeAspect="1"/>
          </p:cNvPicPr>
          <p:nvPr/>
        </p:nvPicPr>
        <p:blipFill>
          <a:blip r:embed="rId2"/>
          <a:stretch>
            <a:fillRect/>
          </a:stretch>
        </p:blipFill>
        <p:spPr>
          <a:xfrm>
            <a:off x="5394960" y="1371600"/>
            <a:ext cx="3081528" cy="2194560"/>
          </a:xfrm>
          <a:prstGeom prst="rect">
            <a:avLst/>
          </a:prstGeom>
        </p:spPr>
      </p:pic>
      <p:sp>
        <p:nvSpPr>
          <p:cNvPr id="6" name="Text 2"/>
          <p:cNvSpPr txBox="1"/>
          <p:nvPr/>
        </p:nvSpPr>
        <p:spPr>
          <a:xfrm>
            <a:off x="457200" y="3657600"/>
            <a:ext cx="4663440" cy="274320"/>
          </a:xfrm>
          <a:prstGeom prst="rect">
            <a:avLst/>
          </a:prstGeom>
          <a:noFill/>
          <a:ln/>
        </p:spPr>
        <p:txBody>
          <a:bodyPr wrap="square" lIns="0" tIns="0" rIns="0" bIns="0" rtlCol="0" anchor="t"/>
          <a:lstStyle/>
          <a:p>
            <a:pPr indent="0" marL="0">
              <a:buNone/>
            </a:pPr>
            <a:r>
              <a:rPr lang="en-US" sz="1400" b="1" dirty="0">
                <a:solidFill>
                  <a:schemeClr val="tx2"/>
                </a:solidFill>
              </a:rPr>
              <a:t>Held-out test results (selected model)</a:t>
            </a:r>
            <a:endParaRPr lang="en-US" sz="1400" dirty="0"/>
          </a:p>
        </p:txBody>
      </p:sp>
      <p:sp>
        <p:nvSpPr>
          <p:cNvPr id="7" name="Text 3"/>
          <p:cNvSpPr txBox="1"/>
          <p:nvPr/>
        </p:nvSpPr>
        <p:spPr>
          <a:xfrm>
            <a:off x="5394960" y="3630168"/>
            <a:ext cx="3108960" cy="274320"/>
          </a:xfrm>
          <a:prstGeom prst="rect">
            <a:avLst/>
          </a:prstGeom>
          <a:noFill/>
          <a:ln/>
        </p:spPr>
        <p:txBody>
          <a:bodyPr wrap="square" lIns="0" tIns="0" rIns="0" bIns="0" rtlCol="0" anchor="t"/>
          <a:lstStyle/>
          <a:p>
            <a:pPr indent="0" marL="0">
              <a:buNone/>
            </a:pPr>
            <a:r>
              <a:rPr lang="en-US" sz="1200" dirty="0">
                <a:solidFill>
                  <a:schemeClr val="accent5"/>
                </a:solidFill>
              </a:rPr>
              <a:t>Actual vs predicted (test set)</a:t>
            </a:r>
            <a:endParaRPr lang="en-US" sz="1200" dirty="0"/>
          </a:p>
        </p:txBody>
      </p:sp>
      <p:sp>
        <p:nvSpPr>
          <p:cNvPr id="8" name="Test metric 1"/>
          <p:cNvSpPr/>
          <p:nvPr/>
        </p:nvSpPr>
        <p:spPr>
          <a:xfrm>
            <a:off x="457200" y="3977640"/>
            <a:ext cx="1920240" cy="731520"/>
          </a:xfrm>
          <a:prstGeom prst="roundRect">
            <a:avLst>
              <a:gd name="adj" fmla="val 10000"/>
            </a:avLst>
          </a:prstGeom>
          <a:solidFill>
            <a:schemeClr val="bg2"/>
          </a:solidFill>
          <a:ln w="9525">
            <a:solidFill>
              <a:schemeClr val="accent4"/>
            </a:solidFill>
            <a:prstDash val="solid"/>
          </a:ln>
        </p:spPr>
      </p:sp>
      <p:sp>
        <p:nvSpPr>
          <p:cNvPr id="9" name="Text 5"/>
          <p:cNvSpPr txBox="1"/>
          <p:nvPr/>
        </p:nvSpPr>
        <p:spPr>
          <a:xfrm>
            <a:off x="594360" y="4023360"/>
            <a:ext cx="1691640" cy="640080"/>
          </a:xfrm>
          <a:prstGeom prst="rect">
            <a:avLst/>
          </a:prstGeom>
          <a:noFill/>
          <a:ln/>
        </p:spPr>
        <p:txBody>
          <a:bodyPr wrap="square" lIns="0" tIns="0" rIns="0" bIns="0" rtlCol="0" anchor="ctr"/>
          <a:lstStyle/>
          <a:p>
            <a:pPr indent="0" marL="0">
              <a:buNone/>
            </a:pPr>
            <a:r>
              <a:rPr lang="en-US" sz="1200" dirty="0">
                <a:solidFill>
                  <a:schemeClr val="accent5"/>
                </a:solidFill>
              </a:rPr>
              <a:t>MAE</a:t>
            </a:r>
            <a:endParaRPr lang="en-US" sz="1400" dirty="0"/>
          </a:p>
          <a:p>
            <a:pPr indent="0" marL="0">
              <a:buNone/>
            </a:pPr>
            <a:r>
              <a:rPr lang="en-US" sz="2200" b="1" dirty="0">
                <a:solidFill>
                  <a:schemeClr val="tx2"/>
                </a:solidFill>
              </a:rPr>
              <a:t>0.3958</a:t>
            </a:r>
            <a:endParaRPr lang="en-US" sz="1400" dirty="0"/>
          </a:p>
        </p:txBody>
      </p:sp>
      <p:sp>
        <p:nvSpPr>
          <p:cNvPr id="10" name="Test metric 2"/>
          <p:cNvSpPr/>
          <p:nvPr/>
        </p:nvSpPr>
        <p:spPr>
          <a:xfrm>
            <a:off x="2560320" y="3977640"/>
            <a:ext cx="1920240" cy="731520"/>
          </a:xfrm>
          <a:prstGeom prst="roundRect">
            <a:avLst>
              <a:gd name="adj" fmla="val 10000"/>
            </a:avLst>
          </a:prstGeom>
          <a:solidFill>
            <a:schemeClr val="bg2"/>
          </a:solidFill>
          <a:ln w="9525">
            <a:solidFill>
              <a:schemeClr val="accent4"/>
            </a:solidFill>
            <a:prstDash val="solid"/>
          </a:ln>
        </p:spPr>
      </p:sp>
      <p:sp>
        <p:nvSpPr>
          <p:cNvPr id="11" name="Text 7"/>
          <p:cNvSpPr txBox="1"/>
          <p:nvPr/>
        </p:nvSpPr>
        <p:spPr>
          <a:xfrm>
            <a:off x="2697480" y="4023360"/>
            <a:ext cx="1691640" cy="640080"/>
          </a:xfrm>
          <a:prstGeom prst="rect">
            <a:avLst/>
          </a:prstGeom>
          <a:noFill/>
          <a:ln/>
        </p:spPr>
        <p:txBody>
          <a:bodyPr wrap="square" lIns="0" tIns="0" rIns="0" bIns="0" rtlCol="0" anchor="ctr"/>
          <a:lstStyle/>
          <a:p>
            <a:pPr indent="0" marL="0">
              <a:buNone/>
            </a:pPr>
            <a:r>
              <a:rPr lang="en-US" sz="1200" dirty="0">
                <a:solidFill>
                  <a:schemeClr val="accent5"/>
                </a:solidFill>
              </a:rPr>
              <a:t>RMSE</a:t>
            </a:r>
            <a:endParaRPr lang="en-US" sz="1400" dirty="0"/>
          </a:p>
          <a:p>
            <a:pPr indent="0" marL="0">
              <a:buNone/>
            </a:pPr>
            <a:r>
              <a:rPr lang="en-US" sz="2200" b="1" dirty="0">
                <a:solidFill>
                  <a:schemeClr val="tx2"/>
                </a:solidFill>
              </a:rPr>
              <a:t>0.5455</a:t>
            </a:r>
            <a:endParaRPr lang="en-US" sz="1400" dirty="0"/>
          </a:p>
        </p:txBody>
      </p:sp>
      <p:sp>
        <p:nvSpPr>
          <p:cNvPr id="12" name="Test metric 3"/>
          <p:cNvSpPr/>
          <p:nvPr/>
        </p:nvSpPr>
        <p:spPr>
          <a:xfrm>
            <a:off x="4663440" y="3977640"/>
            <a:ext cx="1920240" cy="731520"/>
          </a:xfrm>
          <a:prstGeom prst="roundRect">
            <a:avLst>
              <a:gd name="adj" fmla="val 10000"/>
            </a:avLst>
          </a:prstGeom>
          <a:solidFill>
            <a:schemeClr val="bg2"/>
          </a:solidFill>
          <a:ln w="9525">
            <a:solidFill>
              <a:schemeClr val="accent4"/>
            </a:solidFill>
            <a:prstDash val="solid"/>
          </a:ln>
        </p:spPr>
      </p:sp>
      <p:sp>
        <p:nvSpPr>
          <p:cNvPr id="13" name="Text 9"/>
          <p:cNvSpPr txBox="1"/>
          <p:nvPr/>
        </p:nvSpPr>
        <p:spPr>
          <a:xfrm>
            <a:off x="4800600" y="4023360"/>
            <a:ext cx="1691640" cy="640080"/>
          </a:xfrm>
          <a:prstGeom prst="rect">
            <a:avLst/>
          </a:prstGeom>
          <a:noFill/>
          <a:ln/>
        </p:spPr>
        <p:txBody>
          <a:bodyPr wrap="square" lIns="0" tIns="0" rIns="0" bIns="0" rtlCol="0" anchor="ctr"/>
          <a:lstStyle/>
          <a:p>
            <a:pPr indent="0" marL="0">
              <a:buNone/>
            </a:pPr>
            <a:r>
              <a:rPr lang="en-US" sz="1200" dirty="0">
                <a:solidFill>
                  <a:schemeClr val="accent5"/>
                </a:solidFill>
              </a:rPr>
              <a:t>MAPE</a:t>
            </a:r>
            <a:endParaRPr lang="en-US" sz="1400" dirty="0"/>
          </a:p>
          <a:p>
            <a:pPr indent="0" marL="0">
              <a:buNone/>
            </a:pPr>
            <a:r>
              <a:rPr lang="en-US" sz="2200" b="1" dirty="0">
                <a:solidFill>
                  <a:schemeClr val="tx2"/>
                </a:solidFill>
              </a:rPr>
              <a:t>57.1879%</a:t>
            </a:r>
            <a:endParaRPr lang="en-US" sz="1400" dirty="0"/>
          </a:p>
        </p:txBody>
      </p:sp>
      <p:sp>
        <p:nvSpPr>
          <p:cNvPr id="14" name="Test metric 4"/>
          <p:cNvSpPr/>
          <p:nvPr/>
        </p:nvSpPr>
        <p:spPr>
          <a:xfrm>
            <a:off x="6766560" y="3977640"/>
            <a:ext cx="1920240" cy="731520"/>
          </a:xfrm>
          <a:prstGeom prst="roundRect">
            <a:avLst>
              <a:gd name="adj" fmla="val 10000"/>
            </a:avLst>
          </a:prstGeom>
          <a:solidFill>
            <a:schemeClr val="bg2"/>
          </a:solidFill>
          <a:ln w="9525">
            <a:solidFill>
              <a:schemeClr val="accent4"/>
            </a:solidFill>
            <a:prstDash val="solid"/>
          </a:ln>
        </p:spPr>
      </p:sp>
      <p:sp>
        <p:nvSpPr>
          <p:cNvPr id="15" name="Text 11"/>
          <p:cNvSpPr txBox="1"/>
          <p:nvPr/>
        </p:nvSpPr>
        <p:spPr>
          <a:xfrm>
            <a:off x="6903720" y="4023360"/>
            <a:ext cx="1691640" cy="640080"/>
          </a:xfrm>
          <a:prstGeom prst="rect">
            <a:avLst/>
          </a:prstGeom>
          <a:noFill/>
          <a:ln/>
        </p:spPr>
        <p:txBody>
          <a:bodyPr wrap="square" lIns="0" tIns="0" rIns="0" bIns="0" rtlCol="0" anchor="ctr"/>
          <a:lstStyle/>
          <a:p>
            <a:pPr indent="0" marL="0">
              <a:buNone/>
            </a:pPr>
            <a:r>
              <a:rPr lang="en-US" sz="1200" dirty="0">
                <a:solidFill>
                  <a:schemeClr val="accent5"/>
                </a:solidFill>
              </a:rPr>
              <a:t>R²</a:t>
            </a:r>
            <a:endParaRPr lang="en-US" sz="1400" dirty="0"/>
          </a:p>
          <a:p>
            <a:pPr indent="0" marL="0">
              <a:buNone/>
            </a:pPr>
            <a:r>
              <a:rPr lang="en-US" sz="2200" b="1" dirty="0">
                <a:solidFill>
                  <a:schemeClr val="tx2"/>
                </a:solidFill>
              </a:rPr>
              <a:t>0.4088</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Interpretation and Limitations</a:t>
            </a:r>
            <a:endParaRPr lang="en-US" sz="3400" dirty="0"/>
          </a:p>
        </p:txBody>
      </p:sp>
      <p:pic>
        <p:nvPicPr>
          <p:cNvPr id="3" name="Importance plot" descr="Permutation importance bar chart of the 14 features">    </p:cNvPr>
          <p:cNvPicPr>
            <a:picLocks noChangeAspect="1"/>
          </p:cNvPicPr>
          <p:nvPr/>
        </p:nvPicPr>
        <p:blipFill>
          <a:blip r:embed="rId1"/>
          <a:stretch>
            <a:fillRect/>
          </a:stretch>
        </p:blipFill>
        <p:spPr>
          <a:xfrm>
            <a:off x="457200" y="1188720"/>
            <a:ext cx="3840480" cy="2551176"/>
          </a:xfrm>
          <a:prstGeom prst="rect">
            <a:avLst/>
          </a:prstGeom>
        </p:spPr>
      </p:pic>
      <p:sp>
        <p:nvSpPr>
          <p:cNvPr id="4" name="Text 1"/>
          <p:cNvSpPr txBox="1"/>
          <p:nvPr/>
        </p:nvSpPr>
        <p:spPr>
          <a:xfrm>
            <a:off x="457200" y="3794760"/>
            <a:ext cx="3840480" cy="274320"/>
          </a:xfrm>
          <a:prstGeom prst="rect">
            <a:avLst/>
          </a:prstGeom>
          <a:noFill/>
          <a:ln/>
        </p:spPr>
        <p:txBody>
          <a:bodyPr wrap="square" lIns="0" tIns="0" rIns="0" bIns="0" rtlCol="0" anchor="t"/>
          <a:lstStyle/>
          <a:p>
            <a:pPr indent="0" marL="0">
              <a:buNone/>
            </a:pPr>
            <a:r>
              <a:rPr lang="en-US" sz="1200" dirty="0">
                <a:solidFill>
                  <a:schemeClr val="accent5"/>
                </a:solidFill>
              </a:rPr>
              <a:t>Permutation importance (validation sample)</a:t>
            </a:r>
            <a:endParaRPr lang="en-US" sz="1200" dirty="0"/>
          </a:p>
        </p:txBody>
      </p:sp>
      <p:sp>
        <p:nvSpPr>
          <p:cNvPr id="5" name="Text 2"/>
          <p:cNvSpPr txBox="1"/>
          <p:nvPr/>
        </p:nvSpPr>
        <p:spPr>
          <a:xfrm>
            <a:off x="4663440" y="1188720"/>
            <a:ext cx="4023360" cy="320040"/>
          </a:xfrm>
          <a:prstGeom prst="rect">
            <a:avLst/>
          </a:prstGeom>
          <a:noFill/>
          <a:ln/>
        </p:spPr>
        <p:txBody>
          <a:bodyPr wrap="square" lIns="0" tIns="0" rIns="0" bIns="0" rtlCol="0" anchor="t"/>
          <a:lstStyle/>
          <a:p>
            <a:pPr indent="0" marL="0">
              <a:buNone/>
            </a:pPr>
            <a:r>
              <a:rPr lang="en-US" sz="1800" b="1" dirty="0">
                <a:solidFill>
                  <a:schemeClr val="tx2"/>
                </a:solidFill>
              </a:rPr>
              <a:t>What the model uses most</a:t>
            </a:r>
            <a:endParaRPr lang="en-US" sz="1800" dirty="0"/>
          </a:p>
        </p:txBody>
      </p:sp>
      <p:sp>
        <p:nvSpPr>
          <p:cNvPr id="6" name="Importance bullets"/>
          <p:cNvSpPr txBox="1"/>
          <p:nvPr/>
        </p:nvSpPr>
        <p:spPr>
          <a:xfrm>
            <a:off x="4663440" y="1572768"/>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Hour of day matters most</a:t>
            </a:r>
            <a:endParaRPr lang="en-US" sz="1400" dirty="0"/>
          </a:p>
          <a:p>
            <a:pPr marL="342900" indent="-342900">
              <a:spcAft>
                <a:spcPts val="600"/>
              </a:spcAft>
              <a:buSzPct val="100000"/>
              <a:buChar char="•"/>
            </a:pPr>
            <a:r>
              <a:rPr lang="en-US" sz="1400" dirty="0">
                <a:solidFill>
                  <a:schemeClr val="tx1"/>
                </a:solidFill>
              </a:rPr>
              <a:t>Previous hour's usage is second</a:t>
            </a:r>
            <a:endParaRPr lang="en-US" sz="1400" dirty="0"/>
          </a:p>
          <a:p>
            <a:pPr marL="342900" indent="-342900">
              <a:spcAft>
                <a:spcPts val="600"/>
              </a:spcAft>
              <a:buSzPct val="100000"/>
              <a:buChar char="•"/>
            </a:pPr>
            <a:r>
              <a:rPr lang="en-US" sz="1400" dirty="0">
                <a:solidFill>
                  <a:schemeClr val="tx1"/>
                </a:solidFill>
              </a:rPr>
              <a:t>Day of week is third; the rest are small</a:t>
            </a:r>
            <a:endParaRPr lang="en-US" sz="1400" dirty="0"/>
          </a:p>
        </p:txBody>
      </p:sp>
      <p:sp>
        <p:nvSpPr>
          <p:cNvPr id="7" name="Text 4"/>
          <p:cNvSpPr txBox="1"/>
          <p:nvPr/>
        </p:nvSpPr>
        <p:spPr>
          <a:xfrm>
            <a:off x="4663440" y="2926080"/>
            <a:ext cx="4023360" cy="320040"/>
          </a:xfrm>
          <a:prstGeom prst="rect">
            <a:avLst/>
          </a:prstGeom>
          <a:noFill/>
          <a:ln/>
        </p:spPr>
        <p:txBody>
          <a:bodyPr wrap="square" lIns="0" tIns="0" rIns="0" bIns="0" rtlCol="0" anchor="t"/>
          <a:lstStyle/>
          <a:p>
            <a:pPr indent="0" marL="0">
              <a:buNone/>
            </a:pPr>
            <a:r>
              <a:rPr lang="en-US" sz="1800" b="1" dirty="0">
                <a:solidFill>
                  <a:schemeClr val="tx2"/>
                </a:solidFill>
              </a:rPr>
              <a:t>Limitations</a:t>
            </a:r>
            <a:endParaRPr lang="en-US" sz="1800" dirty="0"/>
          </a:p>
        </p:txBody>
      </p:sp>
      <p:sp>
        <p:nvSpPr>
          <p:cNvPr id="8" name="Limitation bullets"/>
          <p:cNvSpPr txBox="1"/>
          <p:nvPr/>
        </p:nvSpPr>
        <p:spPr>
          <a:xfrm>
            <a:off x="4663440" y="3310128"/>
            <a:ext cx="402336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household only (2006–2010)</a:t>
            </a:r>
            <a:endParaRPr lang="en-US" sz="1400" dirty="0"/>
          </a:p>
          <a:p>
            <a:pPr marL="342900" indent="-342900">
              <a:spcAft>
                <a:spcPts val="600"/>
              </a:spcAft>
              <a:buSzPct val="100000"/>
              <a:buChar char="•"/>
            </a:pPr>
            <a:r>
              <a:rPr lang="en-US" sz="1400" dirty="0">
                <a:solidFill>
                  <a:schemeClr val="tx1"/>
                </a:solidFill>
              </a:rPr>
              <a:t>Moderate accuracy: R² 0.41, MAPE 57%</a:t>
            </a:r>
            <a:endParaRPr lang="en-US" sz="1400" dirty="0"/>
          </a:p>
          <a:p>
            <a:pPr marL="342900" indent="-342900">
              <a:spcAft>
                <a:spcPts val="600"/>
              </a:spcAft>
              <a:buSzPct val="100000"/>
              <a:buChar char="•"/>
            </a:pPr>
            <a:r>
              <a:rPr lang="en-US" sz="1400" dirty="0">
                <a:solidFill>
                  <a:schemeClr val="tx1"/>
                </a:solidFill>
              </a:rPr>
              <a:t>Only calendar and past-usage features, so there is room to improve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Conclusion</a:t>
            </a:r>
            <a:endParaRPr lang="en-US" sz="3400" dirty="0"/>
          </a:p>
        </p:txBody>
      </p:sp>
      <p:sp>
        <p:nvSpPr>
          <p:cNvPr id="3" name="Conclusion card 1"/>
          <p:cNvSpPr/>
          <p:nvPr/>
        </p:nvSpPr>
        <p:spPr>
          <a:xfrm>
            <a:off x="457200" y="1143000"/>
            <a:ext cx="2606040" cy="2880360"/>
          </a:xfrm>
          <a:prstGeom prst="roundRect">
            <a:avLst>
              <a:gd name="adj" fmla="val 2807"/>
            </a:avLst>
          </a:prstGeom>
          <a:solidFill>
            <a:schemeClr val="bg2"/>
          </a:solidFill>
          <a:ln w="9525">
            <a:solidFill>
              <a:schemeClr val="accent4"/>
            </a:solidFill>
            <a:prstDash val="solid"/>
          </a:ln>
        </p:spPr>
      </p:sp>
      <p:sp>
        <p:nvSpPr>
          <p:cNvPr id="4" name="Text 2"/>
          <p:cNvSpPr txBox="1"/>
          <p:nvPr/>
        </p:nvSpPr>
        <p:spPr>
          <a:xfrm>
            <a:off x="594360" y="1234440"/>
            <a:ext cx="2331720" cy="365760"/>
          </a:xfrm>
          <a:prstGeom prst="rect">
            <a:avLst/>
          </a:prstGeom>
          <a:noFill/>
          <a:ln/>
        </p:spPr>
        <p:txBody>
          <a:bodyPr wrap="square" lIns="0" tIns="0" rIns="0" bIns="0" rtlCol="0" anchor="t"/>
          <a:lstStyle/>
          <a:p>
            <a:pPr indent="0" marL="0">
              <a:buNone/>
            </a:pPr>
            <a:r>
              <a:rPr lang="en-US" sz="1800" b="1" dirty="0">
                <a:solidFill>
                  <a:schemeClr val="tx2"/>
                </a:solidFill>
              </a:rPr>
              <a:t>Work completed</a:t>
            </a:r>
            <a:endParaRPr lang="en-US" sz="1800" dirty="0"/>
          </a:p>
        </p:txBody>
      </p:sp>
      <p:sp>
        <p:nvSpPr>
          <p:cNvPr id="5" name="Conclusion bullets 1"/>
          <p:cNvSpPr txBox="1"/>
          <p:nvPr/>
        </p:nvSpPr>
        <p:spPr>
          <a:xfrm>
            <a:off x="594360" y="1691640"/>
            <a:ext cx="233172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Cleaned over 2 million minute records</a:t>
            </a:r>
            <a:endParaRPr lang="en-US" sz="1400" dirty="0"/>
          </a:p>
          <a:p>
            <a:pPr marL="342900" indent="-342900">
              <a:spcAft>
                <a:spcPts val="500"/>
              </a:spcAft>
              <a:buSzPct val="100000"/>
              <a:buChar char="•"/>
            </a:pPr>
            <a:r>
              <a:rPr lang="en-US" sz="1400" dirty="0">
                <a:solidFill>
                  <a:schemeClr val="tx1"/>
                </a:solidFill>
              </a:rPr>
              <a:t>Built hourly data and 14 features</a:t>
            </a:r>
            <a:endParaRPr lang="en-US" sz="1400" dirty="0"/>
          </a:p>
          <a:p>
            <a:pPr marL="342900" indent="-342900">
              <a:spcAft>
                <a:spcPts val="500"/>
              </a:spcAft>
              <a:buSzPct val="100000"/>
              <a:buChar char="•"/>
            </a:pPr>
            <a:r>
              <a:rPr lang="en-US" sz="1400" dirty="0">
                <a:solidFill>
                  <a:schemeClr val="tx1"/>
                </a:solidFill>
              </a:rPr>
              <a:t>Compared 6 models with a time-ordered split</a:t>
            </a:r>
            <a:endParaRPr lang="en-US" sz="1400" dirty="0"/>
          </a:p>
          <a:p>
            <a:pPr marL="342900" indent="-342900">
              <a:spcAft>
                <a:spcPts val="500"/>
              </a:spcAft>
              <a:buSzPct val="100000"/>
              <a:buChar char="•"/>
            </a:pPr>
            <a:r>
              <a:rPr lang="en-US" sz="1400" dirty="0">
                <a:solidFill>
                  <a:schemeClr val="tx1"/>
                </a:solidFill>
              </a:rPr>
              <a:t>Selected Hist Gradient Boosting</a:t>
            </a:r>
            <a:endParaRPr lang="en-US" sz="1400" dirty="0"/>
          </a:p>
        </p:txBody>
      </p:sp>
      <p:sp>
        <p:nvSpPr>
          <p:cNvPr id="6" name="Conclusion card 2"/>
          <p:cNvSpPr/>
          <p:nvPr/>
        </p:nvSpPr>
        <p:spPr>
          <a:xfrm>
            <a:off x="3268980" y="1143000"/>
            <a:ext cx="2606040" cy="2880360"/>
          </a:xfrm>
          <a:prstGeom prst="roundRect">
            <a:avLst>
              <a:gd name="adj" fmla="val 2807"/>
            </a:avLst>
          </a:prstGeom>
          <a:solidFill>
            <a:schemeClr val="bg2"/>
          </a:solidFill>
          <a:ln w="9525">
            <a:solidFill>
              <a:schemeClr val="accent4"/>
            </a:solidFill>
            <a:prstDash val="solid"/>
          </a:ln>
        </p:spPr>
      </p:sp>
      <p:sp>
        <p:nvSpPr>
          <p:cNvPr id="7" name="Text 5"/>
          <p:cNvSpPr txBox="1"/>
          <p:nvPr/>
        </p:nvSpPr>
        <p:spPr>
          <a:xfrm>
            <a:off x="3406140" y="1234440"/>
            <a:ext cx="2331720" cy="365760"/>
          </a:xfrm>
          <a:prstGeom prst="rect">
            <a:avLst/>
          </a:prstGeom>
          <a:noFill/>
          <a:ln/>
        </p:spPr>
        <p:txBody>
          <a:bodyPr wrap="square" lIns="0" tIns="0" rIns="0" bIns="0" rtlCol="0" anchor="t"/>
          <a:lstStyle/>
          <a:p>
            <a:pPr indent="0" marL="0">
              <a:buNone/>
            </a:pPr>
            <a:r>
              <a:rPr lang="en-US" sz="1800" b="1" dirty="0">
                <a:solidFill>
                  <a:schemeClr val="tx2"/>
                </a:solidFill>
              </a:rPr>
              <a:t>Learned from KDD</a:t>
            </a:r>
            <a:endParaRPr lang="en-US" sz="1800" dirty="0"/>
          </a:p>
        </p:txBody>
      </p:sp>
      <p:sp>
        <p:nvSpPr>
          <p:cNvPr id="8" name="Conclusion bullets 2"/>
          <p:cNvSpPr txBox="1"/>
          <p:nvPr/>
        </p:nvSpPr>
        <p:spPr>
          <a:xfrm>
            <a:off x="3406140" y="1691640"/>
            <a:ext cx="233172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Each step feeds the next one</a:t>
            </a:r>
            <a:endParaRPr lang="en-US" sz="1400" dirty="0"/>
          </a:p>
          <a:p>
            <a:pPr marL="342900" indent="-342900">
              <a:spcAft>
                <a:spcPts val="500"/>
              </a:spcAft>
              <a:buSzPct val="100000"/>
              <a:buChar char="•"/>
            </a:pPr>
            <a:r>
              <a:rPr lang="en-US" sz="1400" dirty="0">
                <a:solidFill>
                  <a:schemeClr val="tx1"/>
                </a:solidFill>
              </a:rPr>
              <a:t>A time-ordered split avoids using future data</a:t>
            </a:r>
            <a:endParaRPr lang="en-US" sz="1400" dirty="0"/>
          </a:p>
          <a:p>
            <a:pPr marL="342900" indent="-342900">
              <a:spcAft>
                <a:spcPts val="500"/>
              </a:spcAft>
              <a:buSzPct val="100000"/>
              <a:buChar char="•"/>
            </a:pPr>
            <a:r>
              <a:rPr lang="en-US" sz="1400" dirty="0">
                <a:solidFill>
                  <a:schemeClr val="tx1"/>
                </a:solidFill>
              </a:rPr>
              <a:t>A baseline shows what models add</a:t>
            </a:r>
            <a:endParaRPr lang="en-US" sz="1400" dirty="0"/>
          </a:p>
          <a:p>
            <a:pPr marL="342900" indent="-342900">
              <a:spcAft>
                <a:spcPts val="500"/>
              </a:spcAft>
              <a:buSzPct val="100000"/>
              <a:buChar char="•"/>
            </a:pPr>
            <a:r>
              <a:rPr lang="en-US" sz="1400" dirty="0">
                <a:solidFill>
                  <a:schemeClr val="tx1"/>
                </a:solidFill>
              </a:rPr>
              <a:t>Report moderate results honestly</a:t>
            </a:r>
            <a:endParaRPr lang="en-US" sz="1400" dirty="0"/>
          </a:p>
        </p:txBody>
      </p:sp>
      <p:sp>
        <p:nvSpPr>
          <p:cNvPr id="9" name="Conclusion card 3"/>
          <p:cNvSpPr/>
          <p:nvPr/>
        </p:nvSpPr>
        <p:spPr>
          <a:xfrm>
            <a:off x="6080760" y="1143000"/>
            <a:ext cx="2606040" cy="2880360"/>
          </a:xfrm>
          <a:prstGeom prst="roundRect">
            <a:avLst>
              <a:gd name="adj" fmla="val 2807"/>
            </a:avLst>
          </a:prstGeom>
          <a:solidFill>
            <a:schemeClr val="bg2"/>
          </a:solidFill>
          <a:ln w="9525">
            <a:solidFill>
              <a:schemeClr val="accent4"/>
            </a:solidFill>
            <a:prstDash val="solid"/>
          </a:ln>
        </p:spPr>
      </p:sp>
      <p:sp>
        <p:nvSpPr>
          <p:cNvPr id="10" name="Text 8"/>
          <p:cNvSpPr txBox="1"/>
          <p:nvPr/>
        </p:nvSpPr>
        <p:spPr>
          <a:xfrm>
            <a:off x="6217920" y="1234440"/>
            <a:ext cx="2331720" cy="365760"/>
          </a:xfrm>
          <a:prstGeom prst="rect">
            <a:avLst/>
          </a:prstGeom>
          <a:noFill/>
          <a:ln/>
        </p:spPr>
        <p:txBody>
          <a:bodyPr wrap="square" lIns="0" tIns="0" rIns="0" bIns="0" rtlCol="0" anchor="t"/>
          <a:lstStyle/>
          <a:p>
            <a:pPr indent="0" marL="0">
              <a:buNone/>
            </a:pPr>
            <a:r>
              <a:rPr lang="en-US" sz="1800" b="1" dirty="0">
                <a:solidFill>
                  <a:schemeClr val="tx2"/>
                </a:solidFill>
              </a:rPr>
              <a:t>Future work</a:t>
            </a:r>
            <a:endParaRPr lang="en-US" sz="1800" dirty="0"/>
          </a:p>
        </p:txBody>
      </p:sp>
      <p:sp>
        <p:nvSpPr>
          <p:cNvPr id="11" name="Conclusion bullets 3"/>
          <p:cNvSpPr txBox="1"/>
          <p:nvPr/>
        </p:nvSpPr>
        <p:spPr>
          <a:xfrm>
            <a:off x="6217920" y="1691640"/>
            <a:ext cx="233172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Add the current-hour value and other measurements</a:t>
            </a:r>
            <a:endParaRPr lang="en-US" sz="1400" dirty="0"/>
          </a:p>
          <a:p>
            <a:pPr marL="342900" indent="-342900">
              <a:spcAft>
                <a:spcPts val="500"/>
              </a:spcAft>
              <a:buSzPct val="100000"/>
              <a:buChar char="•"/>
            </a:pPr>
            <a:r>
              <a:rPr lang="en-US" sz="1400" dirty="0">
                <a:solidFill>
                  <a:schemeClr val="tx1"/>
                </a:solidFill>
              </a:rPr>
              <a:t>Add a seasonal baseline</a:t>
            </a:r>
            <a:endParaRPr lang="en-US" sz="1400" dirty="0"/>
          </a:p>
          <a:p>
            <a:pPr marL="342900" indent="-342900">
              <a:spcAft>
                <a:spcPts val="500"/>
              </a:spcAft>
              <a:buSzPct val="100000"/>
              <a:buChar char="•"/>
            </a:pPr>
            <a:r>
              <a:rPr lang="en-US" sz="1400" dirty="0">
                <a:solidFill>
                  <a:schemeClr val="tx1"/>
                </a:solidFill>
              </a:rPr>
              <a:t>Add weather and holiday data</a:t>
            </a:r>
            <a:endParaRPr lang="en-US" sz="1400" dirty="0"/>
          </a:p>
          <a:p>
            <a:pPr marL="342900" indent="-342900">
              <a:spcAft>
                <a:spcPts val="500"/>
              </a:spcAft>
              <a:buSzPct val="100000"/>
              <a:buChar char="•"/>
            </a:pPr>
            <a:r>
              <a:rPr lang="en-US" sz="1400" dirty="0">
                <a:solidFill>
                  <a:schemeClr val="tx1"/>
                </a:solidFill>
              </a:rPr>
              <a:t>Tune models, try LSTM, use more households</a:t>
            </a:r>
            <a:endParaRPr lang="en-US" sz="1400" dirty="0"/>
          </a:p>
        </p:txBody>
      </p:sp>
      <p:sp>
        <p:nvSpPr>
          <p:cNvPr id="12" name="Honesty banner"/>
          <p:cNvSpPr/>
          <p:nvPr/>
        </p:nvSpPr>
        <p:spPr>
          <a:xfrm>
            <a:off x="457200" y="4160520"/>
            <a:ext cx="8229600" cy="502920"/>
          </a:xfrm>
          <a:prstGeom prst="roundRect">
            <a:avLst>
              <a:gd name="adj" fmla="val 14545"/>
            </a:avLst>
          </a:prstGeom>
          <a:solidFill>
            <a:schemeClr val="accent4"/>
          </a:solidFill>
          <a:ln w="9525">
            <a:solidFill>
              <a:schemeClr val="accent4"/>
            </a:solidFill>
            <a:prstDash val="solid"/>
          </a:ln>
        </p:spPr>
      </p:sp>
      <p:sp>
        <p:nvSpPr>
          <p:cNvPr id="13" name="Text 11"/>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600" b="1" dirty="0">
                <a:solidFill>
                  <a:schemeClr val="tx2"/>
                </a:solidFill>
              </a:rPr>
              <a:t>A study model with moderate accuracy (test R² 0.4088). Not production-ready.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avy Clean">
  <a:themeElements>
    <a:clrScheme name="Navy Clean">
      <a:dk1>
        <a:srgbClr val="1B2333"/>
      </a:dk1>
      <a:lt1>
        <a:srgbClr val="FFFFFF"/>
      </a:lt1>
      <a:dk2>
        <a:srgbClr val="0B2A5B"/>
      </a:dk2>
      <a:lt2>
        <a:srgbClr val="EAF0FA"/>
      </a:lt2>
      <a:accent1>
        <a:srgbClr val="0B2A5B"/>
      </a:accent1>
      <a:accent2>
        <a:srgbClr val="2E5AAC"/>
      </a:accent2>
      <a:accent3>
        <a:srgbClr val="7FA3DB"/>
      </a:accent3>
      <a:accent4>
        <a:srgbClr val="C9D8F0"/>
      </a:accent4>
      <a:accent5>
        <a:srgbClr val="5B6B85"/>
      </a:accent5>
      <a:accent6>
        <a:srgbClr val="8FA3C0"/>
      </a:accent6>
      <a:hlink>
        <a:srgbClr val="2E5AAC"/>
      </a:hlink>
      <a:folHlink>
        <a:srgbClr val="5B6B85"/>
      </a:folHlink>
    </a:clrScheme>
    <a:fontScheme name="Navy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Household Electricity Consumption Forecasting Using Machine Learning</dc:title>
  <dc:subject>PptxGenJS Presentation</dc:subject>
  <dc:creator>Abhinava Akash Kotha</dc:creator>
  <cp:lastModifiedBy>Abhinava Akash Kotha</cp:lastModifiedBy>
  <cp:revision>1</cp:revision>
  <dcterms:created xsi:type="dcterms:W3CDTF">2026-10-11T18:03:12Z</dcterms:created>
  <dcterms:modified xsi:type="dcterms:W3CDTF">2026-10-11T18:03:12Z</dcterms:modified>
</cp:coreProperties>
</file>